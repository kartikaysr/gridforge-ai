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0d8312e7db64094" /><Relationship Type="http://schemas.openxmlformats.org/officeDocument/2006/relationships/extended-properties" Target="/docProps/app.xml" Id="Rccabc326afc34866" /><Relationship Type="http://schemas.openxmlformats.org/officeDocument/2006/relationships/officeDocument" Target="/ppt/presentation.xml" Id="Rae768213bf5c4598" /></Relationships>
</file>

<file path=ppt/presentation.xml><?xml version="1.0" encoding="utf-8"?>
<p:presentation xmlns:p="http://schemas.openxmlformats.org/presentationml/2006/main">
  <p:sldMasterIdLst>
    <p:sldMasterId xmlns:r="http://schemas.openxmlformats.org/officeDocument/2006/relationships" id="2147483648" r:id="R362d6534a7e64594"/>
  </p:sldMasterIdLst>
  <p:notesMasterIdLst>
    <p:notesMasterId xmlns:r="http://schemas.openxmlformats.org/officeDocument/2006/relationships" r:id="Rbadec444c66f4e11"/>
  </p:notesMasterIdLst>
  <p:sldIdLst>
    <p:sldId xmlns:r="http://schemas.openxmlformats.org/officeDocument/2006/relationships" id="256" r:id="R8f4c704c4dbf4d17"/>
    <p:sldId xmlns:r="http://schemas.openxmlformats.org/officeDocument/2006/relationships" id="257" r:id="R03cccbae114142d3"/>
    <p:sldId xmlns:r="http://schemas.openxmlformats.org/officeDocument/2006/relationships" id="258" r:id="Rb2ca131443704edc"/>
    <p:sldId xmlns:r="http://schemas.openxmlformats.org/officeDocument/2006/relationships" id="259" r:id="Rcb586a2d547f4d10"/>
    <p:sldId xmlns:r="http://schemas.openxmlformats.org/officeDocument/2006/relationships" id="260" r:id="R589cc4d799f74f70"/>
    <p:sldId xmlns:r="http://schemas.openxmlformats.org/officeDocument/2006/relationships" id="261" r:id="R6b6716bc19c74e76"/>
    <p:sldId xmlns:r="http://schemas.openxmlformats.org/officeDocument/2006/relationships" id="262" r:id="R153d1a95b6504f09"/>
    <p:sldId xmlns:r="http://schemas.openxmlformats.org/officeDocument/2006/relationships" id="263" r:id="R1b3ca5f5ed6e4d75"/>
    <p:sldId xmlns:r="http://schemas.openxmlformats.org/officeDocument/2006/relationships" id="264" r:id="R8ac5c94ca08c4192"/>
    <p:sldId xmlns:r="http://schemas.openxmlformats.org/officeDocument/2006/relationships" id="265" r:id="R76267af76eea4dbf"/>
    <p:sldId xmlns:r="http://schemas.openxmlformats.org/officeDocument/2006/relationships" id="266" r:id="R971b57b165414656"/>
    <p:sldId xmlns:r="http://schemas.openxmlformats.org/officeDocument/2006/relationships" id="267" r:id="R350516ac7d6b48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e765a647b547dc" /><Relationship Type="http://schemas.openxmlformats.org/officeDocument/2006/relationships/slideMaster" Target="/ppt/slideMasters/slideMaster1.xml" Id="R362d6534a7e64594" /><Relationship Type="http://schemas.openxmlformats.org/officeDocument/2006/relationships/notesMaster" Target="/ppt/notesMasters/notesMaster1.xml" Id="Rbadec444c66f4e11" /><Relationship Type="http://schemas.openxmlformats.org/officeDocument/2006/relationships/presProps" Target="/ppt/presProps.xml" Id="R78ad1b2600fe49fa" /><Relationship Type="http://schemas.openxmlformats.org/officeDocument/2006/relationships/tableStyles" Target="/ppt/tableStyles.xml" Id="R19f3f923639948da" /><Relationship Type="http://schemas.openxmlformats.org/officeDocument/2006/relationships/slide" Target="/ppt/slides/slide1.xml" Id="R8f4c704c4dbf4d17" /><Relationship Type="http://schemas.openxmlformats.org/officeDocument/2006/relationships/slide" Target="/ppt/slides/slide2.xml" Id="R03cccbae114142d3" /><Relationship Type="http://schemas.openxmlformats.org/officeDocument/2006/relationships/slide" Target="/ppt/slides/slide3.xml" Id="Rb2ca131443704edc" /><Relationship Type="http://schemas.openxmlformats.org/officeDocument/2006/relationships/slide" Target="/ppt/slides/slide4.xml" Id="Rcb586a2d547f4d10" /><Relationship Type="http://schemas.openxmlformats.org/officeDocument/2006/relationships/slide" Target="/ppt/slides/slide5.xml" Id="R589cc4d799f74f70" /><Relationship Type="http://schemas.openxmlformats.org/officeDocument/2006/relationships/slide" Target="/ppt/slides/slide6.xml" Id="R6b6716bc19c74e76" /><Relationship Type="http://schemas.openxmlformats.org/officeDocument/2006/relationships/slide" Target="/ppt/slides/slide7.xml" Id="R153d1a95b6504f09" /><Relationship Type="http://schemas.openxmlformats.org/officeDocument/2006/relationships/slide" Target="/ppt/slides/slide8.xml" Id="R1b3ca5f5ed6e4d75" /><Relationship Type="http://schemas.openxmlformats.org/officeDocument/2006/relationships/slide" Target="/ppt/slides/slide9.xml" Id="R8ac5c94ca08c4192" /><Relationship Type="http://schemas.openxmlformats.org/officeDocument/2006/relationships/slide" Target="/ppt/slides/slide10.xml" Id="R76267af76eea4dbf" /><Relationship Type="http://schemas.openxmlformats.org/officeDocument/2006/relationships/slide" Target="/ppt/slides/slide11.xml" Id="R971b57b165414656" /><Relationship Type="http://schemas.openxmlformats.org/officeDocument/2006/relationships/slide" Target="/ppt/slides/slide12.xml" Id="R350516ac7d6b48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329689f31a4d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c5fa1c87c4404f" /><Relationship Type="http://schemas.openxmlformats.org/officeDocument/2006/relationships/notesMaster" Target="/ppt/notesMasters/notesMaster1.xml" Id="R085684b88f164c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869a55a1444ee9" /><Relationship Type="http://schemas.openxmlformats.org/officeDocument/2006/relationships/notesMaster" Target="/ppt/notesMasters/notesMaster1.xml" Id="R4e450c8a21864c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d0f9a651dd490c" /><Relationship Type="http://schemas.openxmlformats.org/officeDocument/2006/relationships/notesMaster" Target="/ppt/notesMasters/notesMaster1.xml" Id="R8e90b02d05c84b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632ca69165431e" /><Relationship Type="http://schemas.openxmlformats.org/officeDocument/2006/relationships/notesMaster" Target="/ppt/notesMasters/notesMaster1.xml" Id="R0e0ff69e88be43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e949c3c23141a7" /><Relationship Type="http://schemas.openxmlformats.org/officeDocument/2006/relationships/notesMaster" Target="/ppt/notesMasters/notesMaster1.xml" Id="Rdd7fdfe7d22843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14404f96224b1d" /><Relationship Type="http://schemas.openxmlformats.org/officeDocument/2006/relationships/notesMaster" Target="/ppt/notesMasters/notesMaster1.xml" Id="Rd742135710bd47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7f6df2bfa44f25" /><Relationship Type="http://schemas.openxmlformats.org/officeDocument/2006/relationships/notesMaster" Target="/ppt/notesMasters/notesMaster1.xml" Id="R4ddc46e5cb6144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7bd0af81d44e1f" /><Relationship Type="http://schemas.openxmlformats.org/officeDocument/2006/relationships/notesMaster" Target="/ppt/notesMasters/notesMaster1.xml" Id="Rcc977e155a2c4c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1587a0cb454922" /><Relationship Type="http://schemas.openxmlformats.org/officeDocument/2006/relationships/notesMaster" Target="/ppt/notesMasters/notesMaster1.xml" Id="R9f5df0f7e89d4f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b2242c63724842" /><Relationship Type="http://schemas.openxmlformats.org/officeDocument/2006/relationships/notesMaster" Target="/ppt/notesMasters/notesMaster1.xml" Id="R800da5d6c24240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c174cd66b24ca2" /><Relationship Type="http://schemas.openxmlformats.org/officeDocument/2006/relationships/notesMaster" Target="/ppt/notesMasters/notesMaster1.xml" Id="Re274447cf3c045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4500fdfa7c4bd9" /><Relationship Type="http://schemas.openxmlformats.org/officeDocument/2006/relationships/notesMaster" Target="/ppt/notesMasters/notesMaster1.xml" Id="R1cae6cc6ca6848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 Yuva Yodha Energy Tech Hackathon 2026 by Schneider Electric. Challenge 4: Smart Manufacturing — Industrial Energy &amp; Process Efficiency. Official event https://www.yuvayodhatech.com/ and application https://apply.younoodle.com/showcase/competition/yuva_yodha_tech_hackathon_2026 . Submission track: Smart Manufacturing. The application requests 8–12 slides including the team introduction. This deck contains 12 total. Author identity follows project Git identity and user-provided education. Current software is an AI-assisted simulation prototype. No factory trial, real OT integration, customer, institutional endorsement or deployed commercial product is claimed. Repository: https://github.com/KartikaySr/GridForge-AI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https://www.beeindia.gov.in/small-medium-scale-enterprises-sme.php and https://www.sameeeksha.org/pdf/compressed-air-system.pdf. The case study concerns a hardware replacement, not GridForge software, and does not establish our savings. The challenge brief supplies broad national energy/cost percentages. We omit those unverified aggregate numbers because definitions vary. Target site assumptions are proposals, not customer discovery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telemetry validation, rolling-mean-v1, bounded-curtailment-v1, scoped human approval, simulated dispatch, verification, finance and audit. Local extractive retrieval provides cited excerpts; no LLM or trained XGBoost/LightGBM model runs. The restricted allocator minimizes separable penalty-weighted reductions under bounds; it does not solve general production scheduling. Idle-loss diagnosis, physical metering, ERP production ingestion and production-normalized SEC are pilot extensions.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architecture: native fixed IPC with private credentials, supervised local FastAPI/asyncio runtime, SQLite WAL and idempotent outbox uploads to real PostgreSQL receiver. Cloud reply is an acknowledgement, not a remote control channel. Diagram connectors show logical integration paths. Proposed meter and ERP interfaces require implementation and commissioning. Native supervisor owns lifecycle and credentials. Desktop closure stops current runtime, so pilot needs a service host or an explicitly supervised operating period. No physical writes or autonomous PLC control are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native editable design artefact, not an actual app screenshot. Amber SEC/output elements represent future production normalization. Green elements correspond to existing interface concepts but are redrawn for the proposal. All displayed numbers are illustrative. Current implementation sources: apps/desktop/src/pages and services/demonstration. Proposed local-language labels and field workflows should follow operator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model is conceptual and editable. Existing contracts use org/facility scope, versioned events, UUID identities and evidence links. Monetary arithmetic uses Decimal; UTC at rest. Proposed ProductionRecord must be server-scoped, versioned and reconciled to the measurement interval. Existing ledger does not establish production-normalized savings. Append-only hash chain is locally tamper-evident, not externally immutable against privileged OS access. Source: services/*/contracts.py, docs/07-contracts/API_EVENT_CONTRACTS.md.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https://github.com/KartikaySr/GridForge-AI/blob/main/docs/evidence/phase-11-acceptance.json and docs/00-master/PHASE_11_COMPLETION_REPORT.md. Complete simulation uses actual domain services and a disposable real PostgreSQL/HTTP receiver. Recorded event verifies USD 1.84 synthetic net energy value at USD 0.15/kWh, with 60 seconds each of execution/rebound. This is not used to derive the proposed Indian monthly SEC target or commercial payback. No quality/throughput measurement exists in this acceptance scenario. Tests are local, not a claim about hosted CI status or production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slide values are explicitly hypothetical scenario assumptions. SEC = total electricity / good tonnes. Baseline 100000/100 = 1000 kWh/t. Auxiliary reduction 20000*0.10 = 2000 kWh, so post-case electricity 98000 and SEC 980. Improvement (1000-980)/1000 = 2%. Good output 100 t, constant mix/hours and reject rate 3% are held fixed analytically, not validated. No direct process load reduction, rebound or production loss is assumed in this scenario; the pilot must test these assumptions. If the same valid electricity emissions factor applies, electricity-related emissions intensity falls by the same modeled 2%; total Scope 1+2 reduction is not claimed. No invented current CEA factor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M&amp;V plan, not a completed accredited verification. Use calibrated metering and an energy auditor to pre-register boundaries, exclusions, normalization and uncertainty. Minimum output and quality conditions must use the site-approved operating envelope, not generic invented pressure or temperature limits. Meter data coverage target &gt;=95% per assessed shift is proposed; insufficient data yields no claim. No treatment of discarded records as zero energy. Use matched shifts or regression if variation warrants it. Electrical SEC is not total energy SEC where gas/fuel contributes. Emissions reporting should apply a documented reporting-year/location-appropriate factor from the CEA database: https://cea.nic.in/cdm-co2-baseline-database/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prices are budget assumptions, not market quotations or an offer. INR 120000 includes the listed monitoring deployment items but excludes GST, finance charges, major switchgear work, machinery replacement and exceptional site travel. Existing suitable PC/meter reuse may lower cost; site conditions can increase it. No compressor replacement budget is included. Pilot site changes are human actions under plant procedures; physical protocol integration is proposed. Before deployment resolve unattended runtime hosting and validate the site OS; only macOS ARM64 is currently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Financial scenario, not financial advice or a validated sales forecast. Assumed monthly electricity 100000 kWh, auxiliary share 20000 kWh, constant tariff INR 8/kWh. The tariff is an illustrative marginal energy rate, not a named DISCOM tariff. Monthly expense is INR 3000 proposed subscription plus INR 1000 incremental maintenance allowance. Base gross=2000*8=16000, net=12000, simple payback=120000/12000=10 months. Low and high calculations follow the table. At zero savings there is no positive payback and INR 4000 recurring cost remains. Base annual net INR 144000 assumes twelve identical months. Excludes demand charges, taxes, financing, degradation and production changes. Hardware/install revenue should pass through local integrators; no margin or customer acquisition claim is made. Scale only after repeatable audited results and support-cost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idea-stage hackathon submission supported by an existing simulation. Planned hackathon work includes production record import, SEC views and an SME auxiliary workflow. No partner, mentor, customer, grant or university endorsement is claimed. Team is presented as one student using AI-assisted engineering. Timeline is a planning proposal and depends on access, instrumentation, site approvals and operating cycles. The current prototype has no predictive maintenance model, no industrial production-quality evidence, no web/mobile product and no physical dispatch path. Repository: https://github.com/KartikaySr/GridForge-AI. Detailed solution and application description accompany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3c044d4c3a4b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a38d9d540b439f" /><Relationship Type="http://schemas.openxmlformats.org/officeDocument/2006/relationships/slideLayout" Target="/ppt/slideLayouts/slideLayout1.xml" Id="R0097bfe3c83d4b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97bfe3c83d4b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5c2a48c01446d0" /><Relationship Type="http://schemas.openxmlformats.org/officeDocument/2006/relationships/notesSlide" Target="/ppt/notesSlides/notesSlide1.xml" Id="Rccacb96573fb4e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487cfdce964203" /><Relationship Type="http://schemas.openxmlformats.org/officeDocument/2006/relationships/notesSlide" Target="/ppt/notesSlides/notesSlide2.xml" Id="Rad07452c863b4c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cfcbbd6c764cf8" /><Relationship Type="http://schemas.openxmlformats.org/officeDocument/2006/relationships/notesSlide" Target="/ppt/notesSlides/notesSlide3.xml" Id="Rb4df7c5e772147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88be542ad84e79" /><Relationship Type="http://schemas.openxmlformats.org/officeDocument/2006/relationships/notesSlide" Target="/ppt/notesSlides/notesSlide4.xml" Id="R0bd68610d82a41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b53d01035f471b" /><Relationship Type="http://schemas.openxmlformats.org/officeDocument/2006/relationships/notesSlide" Target="/ppt/notesSlides/notesSlide5.xml" Id="Re58df536af7644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70cda938d84971" /><Relationship Type="http://schemas.openxmlformats.org/officeDocument/2006/relationships/notesSlide" Target="/ppt/notesSlides/notesSlide6.xml" Id="Rba065e6cff4c4d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8906026edb4765" /><Relationship Type="http://schemas.openxmlformats.org/officeDocument/2006/relationships/notesSlide" Target="/ppt/notesSlides/notesSlide7.xml" Id="Rd2a69466ea9242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dd8925170e4147" /><Relationship Type="http://schemas.openxmlformats.org/officeDocument/2006/relationships/chart" Target="/ppt/slides/charts/chart1.xml" Id="Rd25805727fc54e6b" /><Relationship Type="http://schemas.openxmlformats.org/officeDocument/2006/relationships/notesSlide" Target="/ppt/notesSlides/notesSlide8.xml" Id="Rfd07d59954ed4e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997ef1311945e3" /><Relationship Type="http://schemas.openxmlformats.org/officeDocument/2006/relationships/notesSlide" Target="/ppt/notesSlides/notesSlide9.xml" Id="Rf1407264993048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3187e15012424f" /><Relationship Type="http://schemas.openxmlformats.org/officeDocument/2006/relationships/notesSlide" Target="/ppt/notesSlides/notesSlide10.xml" Id="R4b355e3302c941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cfc58e5b5e4161" /><Relationship Type="http://schemas.openxmlformats.org/officeDocument/2006/relationships/notesSlide" Target="/ppt/notesSlides/notesSlide11.xml" Id="Rb1d0c7ddca8044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dfe9d99a29340b7" /><Relationship Type="http://schemas.openxmlformats.org/officeDocument/2006/relationships/notesSlide" Target="/ppt/notesSlides/notesSlide12.xml" Id="R4348eac445f8413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Electricity SEC (kWh / good tonne)</c:v>
          </c:tx>
          <c:spPr>
            <a:solidFill xmlns:a="http://schemas.openxmlformats.org/drawingml/2006/main">
              <a:srgbClr val="087F69"/>
            </a:solidFill>
          </c:spPr>
          <c:cat>
            <c:strRef>
              <c:f>'Chart Data'!$A$2:$A$3</c:f>
              <c:strCache>
                <c:ptCount val="2"/>
                <c:pt idx="0">
                  <c:v>Baseline</c:v>
                </c:pt>
                <c:pt idx="1">
                  <c:v>Pilot target</c:v>
                </c:pt>
              </c:strCache>
            </c:strRef>
          </c:cat>
          <c:val>
            <c:numRef>
              <c:f>'Chart Data'!$B$2:$B$3</c:f>
              <c:numCache>
                <c:formatCode>0</c:formatCode>
                <c:ptCount val="2"/>
                <c:pt idx="0">
                  <c:v>1000</c:v>
                </c:pt>
                <c:pt idx="1">
                  <c:v>980</c:v>
                </c:pt>
              </c:numCache>
            </c:numRef>
          </c:val>
        </c:ser>
        <c:dLbls>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elvetica Neue"/>
                <a:ea typeface="Helvetica Neue"/>
                <a:cs typeface="Helvetica Neue"/>
              </a:defRPr>
            </a:pPr>
          </a:p>
        </c:txPr>
        <c:crossAx val="48672768"/>
      </c:catAx>
      <c:valAx>
        <c:axId val="48672768"/>
        <c:scaling>
          <c:orientation val="minMax"/>
          <c:max val="110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25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2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7991F7-E312-4C1F-BE12-19AE6D5FE11E}"/>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GridForge AI</a:t>
            </a:r>
          </a:p>
        </p:txBody>
      </p:sp>
      <p:sp>
        <p:nvSpPr>
          <p:cNvPr id="2" name="">
            <a:extLst xmlns:a="http://schemas.openxmlformats.org/drawingml/2006/main">
              <a:ext uri="{FF2B5EF4-FFF2-40B4-BE49-F238E27FC236}">
                <a16:creationId xmlns:a16="http://schemas.microsoft.com/office/drawing/2014/main" id="{D32C4E8A-B261-4C2A-A9DE-4A847D36D743}"/>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6D2C2"/>
                </a:solidFill>
                <a:latin typeface="Helvetica Neue"/>
                <a:ea typeface="Helvetica Neue"/>
                <a:cs typeface="Helvetica Neue"/>
              </a:defRPr>
            </a:pPr>
            <a:r>
              <a:rPr sz="1725" b="0">
                <a:solidFill>
                  <a:srgbClr val="A6D2C2"/>
                </a:solidFill>
                <a:latin typeface="Helvetica Neue"/>
                <a:ea typeface="Helvetica Neue"/>
                <a:cs typeface="Helvetica Neue"/>
              </a:rPr>
              <a:t>Yuva Yodha Energy Tech Hackathon 2026 by Schneider Electric</a:t>
            </a:r>
          </a:p>
        </p:txBody>
      </p:sp>
      <p:sp>
        <p:nvSpPr>
          <p:cNvPr id="3" name="">
            <a:extLst xmlns:a="http://schemas.openxmlformats.org/drawingml/2006/main">
              <a:ext uri="{FF2B5EF4-FFF2-40B4-BE49-F238E27FC236}">
                <a16:creationId xmlns:a16="http://schemas.microsoft.com/office/drawing/2014/main" id="{DEF58EA1-A424-454A-9192-6005820FB321}"/>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A6D2C2"/>
                </a:solidFill>
                <a:latin typeface="Helvetica Neue"/>
                <a:ea typeface="Helvetica Neue"/>
                <a:cs typeface="Helvetica Neue"/>
              </a:defRPr>
            </a:pPr>
            <a:r>
              <a:rPr sz="975" b="0">
                <a:solidFill>
                  <a:srgbClr val="A6D2C2"/>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367202AA-CF41-4F58-9D07-17026B056B00}"/>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0CA00D79-AA8B-44D8-BEC2-AC21B395A4F9}"/>
              </a:ext>
            </a:extLst>
          </p:cNvPr>
          <p:cNvSpPr>
            <a:spLocks xmlns:a="http://schemas.openxmlformats.org/drawingml/2006/main" noGrp="1"/>
          </p:cNvSpPr>
          <p:nvPr/>
        </p:nvSpPr>
        <p:spPr>
          <a:xfrm xmlns:a="http://schemas.openxmlformats.org/drawingml/2006/main">
            <a:off x="571500" y="2476500"/>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An energy decision assistant</a:t>
            </a:r>
          </a:p>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for India’s small factories.</a:t>
            </a:r>
          </a:p>
        </p:txBody>
      </p:sp>
      <p:sp>
        <p:nvSpPr>
          <p:cNvPr id="6" name="">
            <a:extLst xmlns:a="http://schemas.openxmlformats.org/drawingml/2006/main">
              <a:ext uri="{FF2B5EF4-FFF2-40B4-BE49-F238E27FC236}">
                <a16:creationId xmlns:a16="http://schemas.microsoft.com/office/drawing/2014/main" id="{D61DADD4-A635-4407-AAE1-C03418FA9360}"/>
              </a:ext>
            </a:extLst>
          </p:cNvPr>
          <p:cNvSpPr>
            <a:spLocks xmlns:a="http://schemas.openxmlformats.org/drawingml/2006/main" noGrp="1"/>
          </p:cNvSpPr>
          <p:nvPr/>
        </p:nvSpPr>
        <p:spPr>
          <a:xfrm xmlns:a="http://schemas.openxmlformats.org/drawingml/2006/main">
            <a:off x="571500" y="4524375"/>
            <a:ext cx="971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BD9CD"/>
                </a:solidFill>
                <a:latin typeface="Helvetica Neue"/>
                <a:ea typeface="Helvetica Neue"/>
                <a:cs typeface="Helvetica Neue"/>
              </a:defRPr>
            </a:pPr>
            <a:r>
              <a:rPr sz="1875" b="0">
                <a:solidFill>
                  <a:srgbClr val="BBD9CD"/>
                </a:solidFill>
                <a:latin typeface="Helvetica Neue"/>
                <a:ea typeface="Helvetica Neue"/>
                <a:cs typeface="Helvetica Neue"/>
              </a:rPr>
              <a:t>Kartikay Srivastava</a:t>
            </a:r>
          </a:p>
          <a:p xmlns:a="http://schemas.openxmlformats.org/drawingml/2006/main">
            <a:pPr>
              <a:defRPr sz="1875" b="0">
                <a:solidFill>
                  <a:srgbClr val="BBD9CD"/>
                </a:solidFill>
                <a:latin typeface="Helvetica Neue"/>
                <a:ea typeface="Helvetica Neue"/>
                <a:cs typeface="Helvetica Neue"/>
              </a:defRPr>
            </a:pPr>
            <a:r>
              <a:rPr sz="1875" b="0">
                <a:solidFill>
                  <a:srgbClr val="BBD9CD"/>
                </a:solidFill>
                <a:latin typeface="Helvetica Neue"/>
                <a:ea typeface="Helvetica Neue"/>
                <a:cs typeface="Helvetica Neue"/>
              </a:rPr>
              <a:t>B.Tech CSE, AI &amp; ML, JECRC University</a:t>
            </a:r>
          </a:p>
          <a:p xmlns:a="http://schemas.openxmlformats.org/drawingml/2006/main">
            <a:pPr>
              <a:defRPr sz="1875" b="0">
                <a:solidFill>
                  <a:srgbClr val="BBD9CD"/>
                </a:solidFill>
                <a:latin typeface="Helvetica Neue"/>
                <a:ea typeface="Helvetica Neue"/>
                <a:cs typeface="Helvetica Neue"/>
              </a:defRPr>
            </a:pPr>
            <a:r>
              <a:rPr sz="1875" b="0">
                <a:solidFill>
                  <a:srgbClr val="BBD9CD"/>
                </a:solidFill>
                <a:latin typeface="Helvetica Neue"/>
                <a:ea typeface="Helvetica Neue"/>
                <a:cs typeface="Helvetica Neue"/>
              </a:rPr>
              <a:t>Smart Manufacturing: Industrial Energy &amp; Process Efficiency</a:t>
            </a:r>
          </a:p>
        </p:txBody>
      </p:sp>
    </p:spTree>
    <p:extLst>
      <p:ext uri="{BB962C8B-B14F-4D97-AF65-F5344CB8AC3E}">
        <p14:creationId xmlns:p14="http://schemas.microsoft.com/office/powerpoint/2010/main" val="2106183925"/>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26E6C6-088A-49A4-A4F7-AFF92EF1BB22}"/>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The target user: a small foundry operator</a:t>
            </a:r>
          </a:p>
        </p:txBody>
      </p:sp>
      <p:sp>
        <p:nvSpPr>
          <p:cNvPr id="2" name="">
            <a:extLst xmlns:a="http://schemas.openxmlformats.org/drawingml/2006/main">
              <a:ext uri="{FF2B5EF4-FFF2-40B4-BE49-F238E27FC236}">
                <a16:creationId xmlns:a16="http://schemas.microsoft.com/office/drawing/2014/main" id="{702679C6-B5F4-40B3-A6CC-8ABFE21B6429}"/>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Focus on controllable auxiliary waste while protecting the production process</a:t>
            </a:r>
          </a:p>
        </p:txBody>
      </p:sp>
      <p:sp>
        <p:nvSpPr>
          <p:cNvPr id="3" name="">
            <a:extLst xmlns:a="http://schemas.openxmlformats.org/drawingml/2006/main">
              <a:ext uri="{FF2B5EF4-FFF2-40B4-BE49-F238E27FC236}">
                <a16:creationId xmlns:a16="http://schemas.microsoft.com/office/drawing/2014/main" id="{022B25EA-611B-45A2-B603-98A543C53948}"/>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E71DA863-4B57-4EA5-9956-141BDF7932E9}"/>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20AFCE1-7F1F-4EFC-8736-24252AE092EB}"/>
              </a:ext>
            </a:extLst>
          </p:cNvPr>
          <p:cNvSpPr>
            <a:spLocks xmlns:a="http://schemas.openxmlformats.org/drawingml/2006/main" noGrp="1"/>
          </p:cNvSpPr>
          <p:nvPr/>
        </p:nvSpPr>
        <p:spPr>
          <a:xfrm xmlns:a="http://schemas.openxmlformats.org/drawingml/2006/main">
            <a:off x="571500" y="21431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Operational problem</a:t>
            </a:r>
          </a:p>
        </p:txBody>
      </p:sp>
      <p:sp>
        <p:nvSpPr>
          <p:cNvPr id="6" name="">
            <a:extLst xmlns:a="http://schemas.openxmlformats.org/drawingml/2006/main">
              <a:ext uri="{FF2B5EF4-FFF2-40B4-BE49-F238E27FC236}">
                <a16:creationId xmlns:a16="http://schemas.microsoft.com/office/drawing/2014/main" id="{12E47C45-B391-4E49-9B1A-0CD83A568E71}"/>
              </a:ext>
            </a:extLst>
          </p:cNvPr>
          <p:cNvSpPr>
            <a:spLocks xmlns:a="http://schemas.openxmlformats.org/drawingml/2006/main" noGrp="1"/>
          </p:cNvSpPr>
          <p:nvPr/>
        </p:nvSpPr>
        <p:spPr>
          <a:xfrm xmlns:a="http://schemas.openxmlformats.org/drawingml/2006/main">
            <a:off x="571500" y="2524125"/>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A monthly bill cannot identify idle compressor demand or explain consumption per good tonne.</a:t>
            </a:r>
          </a:p>
        </p:txBody>
      </p:sp>
      <p:sp>
        <p:nvSpPr>
          <p:cNvPr id="7" name="">
            <a:extLst xmlns:a="http://schemas.openxmlformats.org/drawingml/2006/main">
              <a:ext uri="{FF2B5EF4-FFF2-40B4-BE49-F238E27FC236}">
                <a16:creationId xmlns:a16="http://schemas.microsoft.com/office/drawing/2014/main" id="{8D866AAC-7DAB-48D3-B425-0A684325713D}"/>
              </a:ext>
            </a:extLst>
          </p:cNvPr>
          <p:cNvSpPr>
            <a:spLocks xmlns:a="http://schemas.openxmlformats.org/drawingml/2006/main" noGrp="1"/>
          </p:cNvSpPr>
          <p:nvPr/>
        </p:nvSpPr>
        <p:spPr>
          <a:xfrm xmlns:a="http://schemas.openxmlformats.org/drawingml/2006/main">
            <a:off x="571500" y="33623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Pilot boundary</a:t>
            </a:r>
          </a:p>
        </p:txBody>
      </p:sp>
      <p:sp>
        <p:nvSpPr>
          <p:cNvPr id="8" name="">
            <a:extLst xmlns:a="http://schemas.openxmlformats.org/drawingml/2006/main">
              <a:ext uri="{FF2B5EF4-FFF2-40B4-BE49-F238E27FC236}">
                <a16:creationId xmlns:a16="http://schemas.microsoft.com/office/drawing/2014/main" id="{6C09A3D7-4B6E-4721-B341-B513B83DC5EE}"/>
              </a:ext>
            </a:extLst>
          </p:cNvPr>
          <p:cNvSpPr>
            <a:spLocks xmlns:a="http://schemas.openxmlformats.org/drawingml/2006/main" noGrp="1"/>
          </p:cNvSpPr>
          <p:nvPr/>
        </p:nvSpPr>
        <p:spPr>
          <a:xfrm xmlns:a="http://schemas.openxmlformats.org/drawingml/2006/main">
            <a:off x="571500" y="3743325"/>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One site, electricity only. Meter main supply and selected auxiliary circuits. Exclude melting and critical process adjustments.</a:t>
            </a:r>
          </a:p>
        </p:txBody>
      </p:sp>
      <p:sp>
        <p:nvSpPr>
          <p:cNvPr id="9" name="">
            <a:extLst xmlns:a="http://schemas.openxmlformats.org/drawingml/2006/main">
              <a:ext uri="{FF2B5EF4-FFF2-40B4-BE49-F238E27FC236}">
                <a16:creationId xmlns:a16="http://schemas.microsoft.com/office/drawing/2014/main" id="{D036D1DF-591C-473B-9B2D-4676E9EC0374}"/>
              </a:ext>
            </a:extLst>
          </p:cNvPr>
          <p:cNvSpPr>
            <a:spLocks xmlns:a="http://schemas.openxmlformats.org/drawingml/2006/main" noGrp="1"/>
          </p:cNvSpPr>
          <p:nvPr/>
        </p:nvSpPr>
        <p:spPr>
          <a:xfrm xmlns:a="http://schemas.openxmlformats.org/drawingml/2006/main">
            <a:off x="571500" y="45815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SME fit</a:t>
            </a:r>
          </a:p>
        </p:txBody>
      </p:sp>
      <p:sp>
        <p:nvSpPr>
          <p:cNvPr id="10" name="">
            <a:extLst xmlns:a="http://schemas.openxmlformats.org/drawingml/2006/main">
              <a:ext uri="{FF2B5EF4-FFF2-40B4-BE49-F238E27FC236}">
                <a16:creationId xmlns:a16="http://schemas.microsoft.com/office/drawing/2014/main" id="{192239D3-0988-49F0-B115-BD7837F7CD73}"/>
              </a:ext>
            </a:extLst>
          </p:cNvPr>
          <p:cNvSpPr>
            <a:spLocks xmlns:a="http://schemas.openxmlformats.org/drawingml/2006/main" noGrp="1"/>
          </p:cNvSpPr>
          <p:nvPr/>
        </p:nvSpPr>
        <p:spPr>
          <a:xfrm xmlns:a="http://schemas.openxmlformats.org/drawingml/2006/main">
            <a:off x="571500" y="4962525"/>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Reuse suitable meters and a local PC where possible. Start with operator recommendations and simple production records.</a:t>
            </a:r>
          </a:p>
        </p:txBody>
      </p:sp>
      <p:sp>
        <p:nvSpPr>
          <p:cNvPr id="11" name="">
            <a:extLst xmlns:a="http://schemas.openxmlformats.org/drawingml/2006/main">
              <a:ext uri="{FF2B5EF4-FFF2-40B4-BE49-F238E27FC236}">
                <a16:creationId xmlns:a16="http://schemas.microsoft.com/office/drawing/2014/main" id="{02DF9BB6-6DC9-4379-A87D-4C810B50F007}"/>
              </a:ext>
            </a:extLst>
          </p:cNvPr>
          <p:cNvSpPr>
            <a:spLocks xmlns:a="http://schemas.openxmlformats.org/drawingml/2006/main" noGrp="1"/>
          </p:cNvSpPr>
          <p:nvPr/>
        </p:nvSpPr>
        <p:spPr>
          <a:xfrm xmlns:a="http://schemas.openxmlformats.org/drawingml/2006/main">
            <a:off x="7953375" y="21526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69"/>
                </a:solidFill>
                <a:latin typeface="Helvetica Neue"/>
                <a:ea typeface="Helvetica Neue"/>
                <a:cs typeface="Helvetica Neue"/>
              </a:defRPr>
            </a:pPr>
            <a:r>
              <a:rPr sz="2100" b="1">
                <a:solidFill>
                  <a:srgbClr val="087F69"/>
                </a:solidFill>
                <a:latin typeface="Helvetica Neue"/>
                <a:ea typeface="Helvetica Neue"/>
                <a:cs typeface="Helvetica Neue"/>
              </a:rPr>
              <a:t>Why this segment</a:t>
            </a:r>
          </a:p>
        </p:txBody>
      </p:sp>
      <p:sp>
        <p:nvSpPr>
          <p:cNvPr id="12" name="">
            <a:extLst xmlns:a="http://schemas.openxmlformats.org/drawingml/2006/main">
              <a:ext uri="{FF2B5EF4-FFF2-40B4-BE49-F238E27FC236}">
                <a16:creationId xmlns:a16="http://schemas.microsoft.com/office/drawing/2014/main" id="{7F8929ED-6B99-49ED-ABE6-33F9993C024A}"/>
              </a:ext>
            </a:extLst>
          </p:cNvPr>
          <p:cNvSpPr>
            <a:spLocks xmlns:a="http://schemas.openxmlformats.org/drawingml/2006/main" noGrp="1"/>
          </p:cNvSpPr>
          <p:nvPr/>
        </p:nvSpPr>
        <p:spPr>
          <a:xfrm xmlns:a="http://schemas.openxmlformats.org/drawingml/2006/main">
            <a:off x="7953375" y="2695575"/>
            <a:ext cx="3476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BEE supports SME efficiency programmes. SAMEEEKSHA documents compressed-air interventions in Indian foundries.</a:t>
            </a:r>
          </a:p>
          <a:p xmlns:a="http://schemas.openxmlformats.org/drawingml/2006/main">
            <a:r>
              <a:t/>
            </a:r>
          </a:p>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A partner foundry and energy auditor still need to validate site access and opportunity.</a:t>
            </a:r>
          </a:p>
        </p:txBody>
      </p:sp>
    </p:spTree>
    <p:extLst>
      <p:ext uri="{BB962C8B-B14F-4D97-AF65-F5344CB8AC3E}">
        <p14:creationId xmlns:p14="http://schemas.microsoft.com/office/powerpoint/2010/main" val="27914552"/>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684AB7-E30D-48F1-804B-21E50F142395}"/>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The idea: evidence-based energy decisions</a:t>
            </a:r>
          </a:p>
        </p:txBody>
      </p:sp>
      <p:sp>
        <p:nvSpPr>
          <p:cNvPr id="2" name="">
            <a:extLst xmlns:a="http://schemas.openxmlformats.org/drawingml/2006/main">
              <a:ext uri="{FF2B5EF4-FFF2-40B4-BE49-F238E27FC236}">
                <a16:creationId xmlns:a16="http://schemas.microsoft.com/office/drawing/2014/main" id="{4528836C-34EE-43FB-9A7B-6DCCCFD93EDF}"/>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Every recommendation retains its evidence, constraints and approval history</a:t>
            </a:r>
          </a:p>
        </p:txBody>
      </p:sp>
      <p:sp>
        <p:nvSpPr>
          <p:cNvPr id="3" name="">
            <a:extLst xmlns:a="http://schemas.openxmlformats.org/drawingml/2006/main">
              <a:ext uri="{FF2B5EF4-FFF2-40B4-BE49-F238E27FC236}">
                <a16:creationId xmlns:a16="http://schemas.microsoft.com/office/drawing/2014/main" id="{1E464DD7-5CB5-468E-89A5-5F6292661567}"/>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20966410-A06E-454D-9911-22F5090245A6}"/>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10B7E014-B3B2-47C5-AED3-BF6D151356D9}"/>
              </a:ext>
            </a:extLst>
          </p:cNvPr>
          <p:cNvSpPr>
            <a:spLocks xmlns:a="http://schemas.openxmlformats.org/drawingml/2006/main" noGrp="1"/>
          </p:cNvSpPr>
          <p:nvPr/>
        </p:nvSpPr>
        <p:spPr>
          <a:xfrm xmlns:a="http://schemas.openxmlformats.org/drawingml/2006/main">
            <a:off x="571500" y="2095500"/>
            <a:ext cx="709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1  Establish usable evidence</a:t>
            </a:r>
          </a:p>
        </p:txBody>
      </p:sp>
      <p:sp>
        <p:nvSpPr>
          <p:cNvPr id="6" name="">
            <a:extLst xmlns:a="http://schemas.openxmlformats.org/drawingml/2006/main">
              <a:ext uri="{FF2B5EF4-FFF2-40B4-BE49-F238E27FC236}">
                <a16:creationId xmlns:a16="http://schemas.microsoft.com/office/drawing/2014/main" id="{6B380428-B4F9-4DC1-8EE5-DF28BE87C2BD}"/>
              </a:ext>
            </a:extLst>
          </p:cNvPr>
          <p:cNvSpPr>
            <a:spLocks xmlns:a="http://schemas.openxmlformats.org/drawingml/2006/main" noGrp="1"/>
          </p:cNvSpPr>
          <p:nvPr/>
        </p:nvSpPr>
        <p:spPr>
          <a:xfrm xmlns:a="http://schemas.openxmlformats.org/drawingml/2006/main">
            <a:off x="571500" y="2476500"/>
            <a:ext cx="709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Validate fresh measurements and mapping revisions. Bad or insufficient data produces UNKNOWN risk.</a:t>
            </a:r>
          </a:p>
        </p:txBody>
      </p:sp>
      <p:sp>
        <p:nvSpPr>
          <p:cNvPr id="7" name="">
            <a:extLst xmlns:a="http://schemas.openxmlformats.org/drawingml/2006/main">
              <a:ext uri="{FF2B5EF4-FFF2-40B4-BE49-F238E27FC236}">
                <a16:creationId xmlns:a16="http://schemas.microsoft.com/office/drawing/2014/main" id="{B91AFE61-C908-400A-9AAC-E4ABF6596BC2}"/>
              </a:ext>
            </a:extLst>
          </p:cNvPr>
          <p:cNvSpPr>
            <a:spLocks xmlns:a="http://schemas.openxmlformats.org/drawingml/2006/main" noGrp="1"/>
          </p:cNvSpPr>
          <p:nvPr/>
        </p:nvSpPr>
        <p:spPr>
          <a:xfrm xmlns:a="http://schemas.openxmlformats.org/drawingml/2006/main">
            <a:off x="571500" y="3305175"/>
            <a:ext cx="709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2  Allocate eligible reduction</a:t>
            </a:r>
          </a:p>
        </p:txBody>
      </p:sp>
      <p:sp>
        <p:nvSpPr>
          <p:cNvPr id="8" name="">
            <a:extLst xmlns:a="http://schemas.openxmlformats.org/drawingml/2006/main">
              <a:ext uri="{FF2B5EF4-FFF2-40B4-BE49-F238E27FC236}">
                <a16:creationId xmlns:a16="http://schemas.microsoft.com/office/drawing/2014/main" id="{2209605E-5774-4B49-AD54-E7C127A74042}"/>
              </a:ext>
            </a:extLst>
          </p:cNvPr>
          <p:cNvSpPr>
            <a:spLocks xmlns:a="http://schemas.openxmlformats.org/drawingml/2006/main" noGrp="1"/>
          </p:cNvSpPr>
          <p:nvPr/>
        </p:nvSpPr>
        <p:spPr>
          <a:xfrm xmlns:a="http://schemas.openxmlformats.org/drawingml/2006/main">
            <a:off x="571500" y="3686175"/>
            <a:ext cx="709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Forecast with a rolling mean. Rank bounded reductions by penalty, excluding critical and unavailable assets.</a:t>
            </a:r>
          </a:p>
        </p:txBody>
      </p:sp>
      <p:sp>
        <p:nvSpPr>
          <p:cNvPr id="9" name="">
            <a:extLst xmlns:a="http://schemas.openxmlformats.org/drawingml/2006/main">
              <a:ext uri="{FF2B5EF4-FFF2-40B4-BE49-F238E27FC236}">
                <a16:creationId xmlns:a16="http://schemas.microsoft.com/office/drawing/2014/main" id="{05FEBCF9-352C-4145-8FA2-349EF1F5E2E2}"/>
              </a:ext>
            </a:extLst>
          </p:cNvPr>
          <p:cNvSpPr>
            <a:spLocks xmlns:a="http://schemas.openxmlformats.org/drawingml/2006/main" noGrp="1"/>
          </p:cNvSpPr>
          <p:nvPr/>
        </p:nvSpPr>
        <p:spPr>
          <a:xfrm xmlns:a="http://schemas.openxmlformats.org/drawingml/2006/main">
            <a:off x="571500" y="4514850"/>
            <a:ext cx="709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3  Authorize and verify</a:t>
            </a:r>
          </a:p>
        </p:txBody>
      </p:sp>
      <p:sp>
        <p:nvSpPr>
          <p:cNvPr id="10" name="">
            <a:extLst xmlns:a="http://schemas.openxmlformats.org/drawingml/2006/main">
              <a:ext uri="{FF2B5EF4-FFF2-40B4-BE49-F238E27FC236}">
                <a16:creationId xmlns:a16="http://schemas.microsoft.com/office/drawing/2014/main" id="{FA8F23FD-6E76-4E55-B814-E186EF99345B}"/>
              </a:ext>
            </a:extLst>
          </p:cNvPr>
          <p:cNvSpPr>
            <a:spLocks xmlns:a="http://schemas.openxmlformats.org/drawingml/2006/main" noGrp="1"/>
          </p:cNvSpPr>
          <p:nvPr/>
        </p:nvSpPr>
        <p:spPr>
          <a:xfrm xmlns:a="http://schemas.openxmlformats.org/drawingml/2006/main">
            <a:off x="571500" y="4895850"/>
            <a:ext cx="709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A human approves. The simulator responds. Complete execution and rebound measurements determine synthetic value.</a:t>
            </a:r>
          </a:p>
        </p:txBody>
      </p:sp>
      <p:sp>
        <p:nvSpPr>
          <p:cNvPr id="11" name="">
            <a:extLst xmlns:a="http://schemas.openxmlformats.org/drawingml/2006/main">
              <a:ext uri="{FF2B5EF4-FFF2-40B4-BE49-F238E27FC236}">
                <a16:creationId xmlns:a16="http://schemas.microsoft.com/office/drawing/2014/main" id="{D6516309-1759-48DF-80D2-187502B4FC65}"/>
              </a:ext>
            </a:extLst>
          </p:cNvPr>
          <p:cNvSpPr>
            <a:spLocks xmlns:a="http://schemas.openxmlformats.org/drawingml/2006/main" noGrp="1"/>
          </p:cNvSpPr>
          <p:nvPr/>
        </p:nvSpPr>
        <p:spPr>
          <a:xfrm xmlns:a="http://schemas.openxmlformats.org/drawingml/2006/main">
            <a:off x="8239125" y="21431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995318"/>
                </a:solidFill>
                <a:latin typeface="Helvetica Neue"/>
                <a:ea typeface="Helvetica Neue"/>
                <a:cs typeface="Helvetica Neue"/>
              </a:defRPr>
            </a:pPr>
            <a:r>
              <a:rPr sz="2100" b="1">
                <a:solidFill>
                  <a:srgbClr val="995318"/>
                </a:solidFill>
                <a:latin typeface="Helvetica Neue"/>
                <a:ea typeface="Helvetica Neue"/>
                <a:cs typeface="Helvetica Neue"/>
              </a:rPr>
              <a:t>Proposed pilot extension</a:t>
            </a:r>
          </a:p>
        </p:txBody>
      </p:sp>
      <p:sp>
        <p:nvSpPr>
          <p:cNvPr id="12" name="">
            <a:extLst xmlns:a="http://schemas.openxmlformats.org/drawingml/2006/main">
              <a:ext uri="{FF2B5EF4-FFF2-40B4-BE49-F238E27FC236}">
                <a16:creationId xmlns:a16="http://schemas.microsoft.com/office/drawing/2014/main" id="{E943DCEF-3C77-4B56-9FD3-B613A2E39874}"/>
              </a:ext>
            </a:extLst>
          </p:cNvPr>
          <p:cNvSpPr>
            <a:spLocks xmlns:a="http://schemas.openxmlformats.org/drawingml/2006/main" noGrp="1"/>
          </p:cNvSpPr>
          <p:nvPr/>
        </p:nvSpPr>
        <p:spPr>
          <a:xfrm xmlns:a="http://schemas.openxmlformats.org/drawingml/2006/main">
            <a:off x="8239125" y="2895600"/>
            <a:ext cx="3238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Find idle auxiliary usage and investigate leaks with site staff.</a:t>
            </a:r>
          </a:p>
          <a:p xmlns:a="http://schemas.openxmlformats.org/drawingml/2006/main">
            <a:r>
              <a:t/>
            </a:r>
          </a:p>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Import good-output and reject records to calculate SEC.</a:t>
            </a:r>
          </a:p>
          <a:p xmlns:a="http://schemas.openxmlformats.org/drawingml/2006/main">
            <a:r>
              <a:t/>
            </a:r>
          </a:p>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Predictive maintenance and ERP adapters remain future work.</a:t>
            </a:r>
          </a:p>
        </p:txBody>
      </p:sp>
    </p:spTree>
    <p:extLst>
      <p:ext uri="{BB962C8B-B14F-4D97-AF65-F5344CB8AC3E}">
        <p14:creationId xmlns:p14="http://schemas.microsoft.com/office/powerpoint/2010/main" val="722577326"/>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AEB7D2F-5DB5-4182-BC5B-459D7F15B377}"/>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System architecture and integration</a:t>
            </a:r>
          </a:p>
        </p:txBody>
      </p:sp>
      <p:sp>
        <p:nvSpPr>
          <p:cNvPr id="2" name="">
            <a:extLst xmlns:a="http://schemas.openxmlformats.org/drawingml/2006/main">
              <a:ext uri="{FF2B5EF4-FFF2-40B4-BE49-F238E27FC236}">
                <a16:creationId xmlns:a16="http://schemas.microsoft.com/office/drawing/2014/main" id="{941915B7-CB20-40F3-B711-B67FE066B85C}"/>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Solid green: implemented simulation components. Dashed amber: proposed site integration</a:t>
            </a:r>
          </a:p>
        </p:txBody>
      </p:sp>
      <p:sp>
        <p:nvSpPr>
          <p:cNvPr id="3" name="">
            <a:extLst xmlns:a="http://schemas.openxmlformats.org/drawingml/2006/main">
              <a:ext uri="{FF2B5EF4-FFF2-40B4-BE49-F238E27FC236}">
                <a16:creationId xmlns:a16="http://schemas.microsoft.com/office/drawing/2014/main" id="{3D82E22B-B203-4A00-9ED9-955925747D0B}"/>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AE5B3402-4CE6-4562-9424-0F6FBEEF1D35}"/>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DF1A9A28-74FC-40AA-82F8-D41C3355B695}"/>
              </a:ext>
            </a:extLst>
          </p:cNvPr>
          <p:cNvSpPr>
            <a:spLocks xmlns:a="http://schemas.openxmlformats.org/drawingml/2006/main" noGrp="1"/>
          </p:cNvSpPr>
          <p:nvPr/>
        </p:nvSpPr>
        <p:spPr>
          <a:xfrm xmlns:a="http://schemas.openxmlformats.org/drawingml/2006/main">
            <a:off x="571500" y="2286000"/>
            <a:ext cx="2762250" cy="1000125"/>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6" name="">
            <a:extLst xmlns:a="http://schemas.openxmlformats.org/drawingml/2006/main">
              <a:ext uri="{FF2B5EF4-FFF2-40B4-BE49-F238E27FC236}">
                <a16:creationId xmlns:a16="http://schemas.microsoft.com/office/drawing/2014/main" id="{E5265A01-8209-4A48-ABE1-42BA6A27AD17}"/>
              </a:ext>
            </a:extLst>
          </p:cNvPr>
          <p:cNvSpPr>
            <a:spLocks xmlns:a="http://schemas.openxmlformats.org/drawingml/2006/main" noGrp="1"/>
          </p:cNvSpPr>
          <p:nvPr/>
        </p:nvSpPr>
        <p:spPr>
          <a:xfrm xmlns:a="http://schemas.openxmlformats.org/drawingml/2006/main">
            <a:off x="704850" y="2400300"/>
            <a:ext cx="24955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Factory simulator</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1 Hz synthetic samples</a:t>
            </a:r>
          </a:p>
        </p:txBody>
      </p:sp>
      <p:sp>
        <p:nvSpPr>
          <p:cNvPr id="7" name="">
            <a:extLst xmlns:a="http://schemas.openxmlformats.org/drawingml/2006/main">
              <a:ext uri="{FF2B5EF4-FFF2-40B4-BE49-F238E27FC236}">
                <a16:creationId xmlns:a16="http://schemas.microsoft.com/office/drawing/2014/main" id="{E58CD724-64B7-453F-B9B7-979726DA285C}"/>
              </a:ext>
            </a:extLst>
          </p:cNvPr>
          <p:cNvSpPr>
            <a:spLocks xmlns:a="http://schemas.openxmlformats.org/drawingml/2006/main" noGrp="1"/>
          </p:cNvSpPr>
          <p:nvPr/>
        </p:nvSpPr>
        <p:spPr>
          <a:xfrm xmlns:a="http://schemas.openxmlformats.org/drawingml/2006/main">
            <a:off x="571500" y="3762375"/>
            <a:ext cx="2762250" cy="1047750"/>
          </a:xfrm>
          <a:prstGeom xmlns:a="http://schemas.openxmlformats.org/drawingml/2006/main" prst="rect">
            <a:avLst/>
          </a:prstGeom>
          <a:solidFill xmlns:a="http://schemas.openxmlformats.org/drawingml/2006/main">
            <a:srgbClr val="FFF4E8"/>
          </a:solidFill>
          <a:ln xmlns:a="http://schemas.openxmlformats.org/drawingml/2006/main" w="14288">
            <a:solidFill>
              <a:srgbClr val="995318"/>
            </a:solidFill>
            <a:prstDash val="dash"/>
          </a:ln>
        </p:spPr>
      </p:sp>
      <p:sp>
        <p:nvSpPr>
          <p:cNvPr id="8" name="">
            <a:extLst xmlns:a="http://schemas.openxmlformats.org/drawingml/2006/main">
              <a:ext uri="{FF2B5EF4-FFF2-40B4-BE49-F238E27FC236}">
                <a16:creationId xmlns:a16="http://schemas.microsoft.com/office/drawing/2014/main" id="{3D78B14C-3DDC-4313-857A-A763D9C5AA4E}"/>
              </a:ext>
            </a:extLst>
          </p:cNvPr>
          <p:cNvSpPr>
            <a:spLocks xmlns:a="http://schemas.openxmlformats.org/drawingml/2006/main" noGrp="1"/>
          </p:cNvSpPr>
          <p:nvPr/>
        </p:nvSpPr>
        <p:spPr>
          <a:xfrm xmlns:a="http://schemas.openxmlformats.org/drawingml/2006/main">
            <a:off x="704850" y="3876675"/>
            <a:ext cx="2495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95318"/>
                </a:solidFill>
                <a:latin typeface="Helvetica Neue"/>
                <a:ea typeface="Helvetica Neue"/>
                <a:cs typeface="Helvetica Neue"/>
              </a:defRPr>
            </a:pPr>
            <a:r>
              <a:rPr sz="1800" b="0">
                <a:solidFill>
                  <a:srgbClr val="995318"/>
                </a:solidFill>
                <a:latin typeface="Helvetica Neue"/>
                <a:ea typeface="Helvetica Neue"/>
                <a:cs typeface="Helvetica Neue"/>
              </a:rPr>
              <a:t>Meters / CTs</a:t>
            </a:r>
          </a:p>
          <a:p xmlns:a="http://schemas.openxmlformats.org/drawingml/2006/main">
            <a:pPr>
              <a:defRPr sz="1800" b="0">
                <a:solidFill>
                  <a:srgbClr val="995318"/>
                </a:solidFill>
                <a:latin typeface="Helvetica Neue"/>
                <a:ea typeface="Helvetica Neue"/>
                <a:cs typeface="Helvetica Neue"/>
              </a:defRPr>
            </a:pPr>
            <a:r>
              <a:rPr sz="1800" b="0">
                <a:solidFill>
                  <a:srgbClr val="995318"/>
                </a:solidFill>
                <a:latin typeface="Helvetica Neue"/>
                <a:ea typeface="Helvetica Neue"/>
                <a:cs typeface="Helvetica Neue"/>
              </a:rPr>
              <a:t>Read-only adapter</a:t>
            </a:r>
          </a:p>
        </p:txBody>
      </p:sp>
      <p:sp>
        <p:nvSpPr>
          <p:cNvPr id="9" name="">
            <a:extLst xmlns:a="http://schemas.openxmlformats.org/drawingml/2006/main">
              <a:ext uri="{FF2B5EF4-FFF2-40B4-BE49-F238E27FC236}">
                <a16:creationId xmlns:a16="http://schemas.microsoft.com/office/drawing/2014/main" id="{7FFB57C4-A890-4CE3-A7FB-E5A7C05A1807}"/>
              </a:ext>
            </a:extLst>
          </p:cNvPr>
          <p:cNvSpPr>
            <a:spLocks xmlns:a="http://schemas.openxmlformats.org/drawingml/2006/main" noGrp="1"/>
          </p:cNvSpPr>
          <p:nvPr/>
        </p:nvSpPr>
        <p:spPr>
          <a:xfrm xmlns:a="http://schemas.openxmlformats.org/drawingml/2006/main">
            <a:off x="4191000" y="2619375"/>
            <a:ext cx="3524250" cy="14287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10" name="">
            <a:extLst xmlns:a="http://schemas.openxmlformats.org/drawingml/2006/main">
              <a:ext uri="{FF2B5EF4-FFF2-40B4-BE49-F238E27FC236}">
                <a16:creationId xmlns:a16="http://schemas.microsoft.com/office/drawing/2014/main" id="{2E8FA2C1-1001-4B44-AED8-2AD492D4D803}"/>
              </a:ext>
            </a:extLst>
          </p:cNvPr>
          <p:cNvSpPr>
            <a:spLocks xmlns:a="http://schemas.openxmlformats.org/drawingml/2006/main" noGrp="1"/>
          </p:cNvSpPr>
          <p:nvPr/>
        </p:nvSpPr>
        <p:spPr>
          <a:xfrm xmlns:a="http://schemas.openxmlformats.org/drawingml/2006/main">
            <a:off x="4324350" y="2733675"/>
            <a:ext cx="3257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Python edge services</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Validation and domain logic</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SQLite WAL + outbox</a:t>
            </a:r>
          </a:p>
        </p:txBody>
      </p:sp>
      <p:sp>
        <p:nvSpPr>
          <p:cNvPr id="11" name="">
            <a:extLst xmlns:a="http://schemas.openxmlformats.org/drawingml/2006/main">
              <a:ext uri="{FF2B5EF4-FFF2-40B4-BE49-F238E27FC236}">
                <a16:creationId xmlns:a16="http://schemas.microsoft.com/office/drawing/2014/main" id="{B1819BA2-2525-4C71-B669-4BF82BA2BED1}"/>
              </a:ext>
            </a:extLst>
          </p:cNvPr>
          <p:cNvSpPr>
            <a:spLocks xmlns:a="http://schemas.openxmlformats.org/drawingml/2006/main" noGrp="1"/>
          </p:cNvSpPr>
          <p:nvPr/>
        </p:nvSpPr>
        <p:spPr>
          <a:xfrm xmlns:a="http://schemas.openxmlformats.org/drawingml/2006/main">
            <a:off x="4191000" y="4667250"/>
            <a:ext cx="3524250" cy="95250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12" name="">
            <a:extLst xmlns:a="http://schemas.openxmlformats.org/drawingml/2006/main">
              <a:ext uri="{FF2B5EF4-FFF2-40B4-BE49-F238E27FC236}">
                <a16:creationId xmlns:a16="http://schemas.microsoft.com/office/drawing/2014/main" id="{C4448150-F7BD-40BB-ACC3-56D86D4ED8D8}"/>
              </a:ext>
            </a:extLst>
          </p:cNvPr>
          <p:cNvSpPr>
            <a:spLocks xmlns:a="http://schemas.openxmlformats.org/drawingml/2006/main" noGrp="1"/>
          </p:cNvSpPr>
          <p:nvPr/>
        </p:nvSpPr>
        <p:spPr>
          <a:xfrm xmlns:a="http://schemas.openxmlformats.org/drawingml/2006/main">
            <a:off x="4324350" y="4781550"/>
            <a:ext cx="3257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React / Tauri / Rust</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Local operator interface</a:t>
            </a:r>
          </a:p>
        </p:txBody>
      </p:sp>
      <p:sp>
        <p:nvSpPr>
          <p:cNvPr id="13" name="">
            <a:extLst xmlns:a="http://schemas.openxmlformats.org/drawingml/2006/main">
              <a:ext uri="{FF2B5EF4-FFF2-40B4-BE49-F238E27FC236}">
                <a16:creationId xmlns:a16="http://schemas.microsoft.com/office/drawing/2014/main" id="{6CE58753-C295-45DE-8E15-3978AE293AEB}"/>
              </a:ext>
            </a:extLst>
          </p:cNvPr>
          <p:cNvSpPr>
            <a:spLocks xmlns:a="http://schemas.openxmlformats.org/drawingml/2006/main" noGrp="1"/>
          </p:cNvSpPr>
          <p:nvPr/>
        </p:nvSpPr>
        <p:spPr>
          <a:xfrm xmlns:a="http://schemas.openxmlformats.org/drawingml/2006/main">
            <a:off x="8620125" y="2619375"/>
            <a:ext cx="2905125" cy="10477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14" name="">
            <a:extLst xmlns:a="http://schemas.openxmlformats.org/drawingml/2006/main">
              <a:ext uri="{FF2B5EF4-FFF2-40B4-BE49-F238E27FC236}">
                <a16:creationId xmlns:a16="http://schemas.microsoft.com/office/drawing/2014/main" id="{129FD465-4865-4575-9528-3510C402E82F}"/>
              </a:ext>
            </a:extLst>
          </p:cNvPr>
          <p:cNvSpPr>
            <a:spLocks xmlns:a="http://schemas.openxmlformats.org/drawingml/2006/main" noGrp="1"/>
          </p:cNvSpPr>
          <p:nvPr/>
        </p:nvSpPr>
        <p:spPr>
          <a:xfrm xmlns:a="http://schemas.openxmlformats.org/drawingml/2006/main">
            <a:off x="8753475" y="2733675"/>
            <a:ext cx="2638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FastAPI receiver</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PostgreSQL persistence</a:t>
            </a:r>
          </a:p>
        </p:txBody>
      </p:sp>
      <p:sp>
        <p:nvSpPr>
          <p:cNvPr id="15" name="">
            <a:extLst xmlns:a="http://schemas.openxmlformats.org/drawingml/2006/main">
              <a:ext uri="{FF2B5EF4-FFF2-40B4-BE49-F238E27FC236}">
                <a16:creationId xmlns:a16="http://schemas.microsoft.com/office/drawing/2014/main" id="{A5F6DBD2-D326-4AD1-9593-6A559C7F3774}"/>
              </a:ext>
            </a:extLst>
          </p:cNvPr>
          <p:cNvSpPr>
            <a:spLocks xmlns:a="http://schemas.openxmlformats.org/drawingml/2006/main" noGrp="1"/>
          </p:cNvSpPr>
          <p:nvPr/>
        </p:nvSpPr>
        <p:spPr>
          <a:xfrm xmlns:a="http://schemas.openxmlformats.org/drawingml/2006/main">
            <a:off x="8620125" y="4381500"/>
            <a:ext cx="2905125" cy="1047750"/>
          </a:xfrm>
          <a:prstGeom xmlns:a="http://schemas.openxmlformats.org/drawingml/2006/main" prst="rect">
            <a:avLst/>
          </a:prstGeom>
          <a:solidFill xmlns:a="http://schemas.openxmlformats.org/drawingml/2006/main">
            <a:srgbClr val="FFF4E8"/>
          </a:solidFill>
          <a:ln xmlns:a="http://schemas.openxmlformats.org/drawingml/2006/main" w="14288">
            <a:solidFill>
              <a:srgbClr val="995318"/>
            </a:solidFill>
            <a:prstDash val="dash"/>
          </a:ln>
        </p:spPr>
      </p:sp>
      <p:sp>
        <p:nvSpPr>
          <p:cNvPr id="16" name="">
            <a:extLst xmlns:a="http://schemas.openxmlformats.org/drawingml/2006/main">
              <a:ext uri="{FF2B5EF4-FFF2-40B4-BE49-F238E27FC236}">
                <a16:creationId xmlns:a16="http://schemas.microsoft.com/office/drawing/2014/main" id="{60A7649B-57B0-4948-9C7C-98C4EEC08162}"/>
              </a:ext>
            </a:extLst>
          </p:cNvPr>
          <p:cNvSpPr>
            <a:spLocks xmlns:a="http://schemas.openxmlformats.org/drawingml/2006/main" noGrp="1"/>
          </p:cNvSpPr>
          <p:nvPr/>
        </p:nvSpPr>
        <p:spPr>
          <a:xfrm xmlns:a="http://schemas.openxmlformats.org/drawingml/2006/main">
            <a:off x="8753475" y="4495800"/>
            <a:ext cx="2638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95318"/>
                </a:solidFill>
                <a:latin typeface="Helvetica Neue"/>
                <a:ea typeface="Helvetica Neue"/>
                <a:cs typeface="Helvetica Neue"/>
              </a:defRPr>
            </a:pPr>
            <a:r>
              <a:rPr sz="1800" b="0">
                <a:solidFill>
                  <a:srgbClr val="995318"/>
                </a:solidFill>
                <a:latin typeface="Helvetica Neue"/>
                <a:ea typeface="Helvetica Neue"/>
                <a:cs typeface="Helvetica Neue"/>
              </a:rPr>
              <a:t>ERP / CSV production</a:t>
            </a:r>
          </a:p>
          <a:p xmlns:a="http://schemas.openxmlformats.org/drawingml/2006/main">
            <a:pPr>
              <a:defRPr sz="1800" b="0">
                <a:solidFill>
                  <a:srgbClr val="995318"/>
                </a:solidFill>
                <a:latin typeface="Helvetica Neue"/>
                <a:ea typeface="Helvetica Neue"/>
                <a:cs typeface="Helvetica Neue"/>
              </a:defRPr>
            </a:pPr>
            <a:r>
              <a:rPr sz="1800" b="0">
                <a:solidFill>
                  <a:srgbClr val="995318"/>
                </a:solidFill>
                <a:latin typeface="Helvetica Neue"/>
                <a:ea typeface="Helvetica Neue"/>
                <a:cs typeface="Helvetica Neue"/>
              </a:rPr>
              <a:t>Good tonnes + rejects</a:t>
            </a:r>
          </a:p>
        </p:txBody>
      </p:sp>
      <p:sp>
        <p:nvSpPr>
          <p:cNvPr id="17" name="">
            <a:extLst xmlns:a="http://schemas.openxmlformats.org/drawingml/2006/main">
              <a:ext uri="{FF2B5EF4-FFF2-40B4-BE49-F238E27FC236}">
                <a16:creationId xmlns:a16="http://schemas.microsoft.com/office/drawing/2014/main" id="{0B410CC6-ABCC-4A3F-9100-62499BA854A7}"/>
              </a:ext>
            </a:extLst>
          </p:cNvPr>
          <p:cNvSpPr>
            <a:spLocks xmlns:a="http://schemas.openxmlformats.org/drawingml/2006/main" noGrp="1"/>
          </p:cNvSpPr>
          <p:nvPr/>
        </p:nvSpPr>
        <p:spPr>
          <a:xfrm xmlns:a="http://schemas.openxmlformats.org/drawingml/2006/main">
            <a:off x="3333750" y="2800350"/>
            <a:ext cx="857250"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18" name="">
            <a:extLst xmlns:a="http://schemas.openxmlformats.org/drawingml/2006/main">
              <a:ext uri="{FF2B5EF4-FFF2-40B4-BE49-F238E27FC236}">
                <a16:creationId xmlns:a16="http://schemas.microsoft.com/office/drawing/2014/main" id="{1199C341-6E73-4A94-864C-516460DBFB76}"/>
              </a:ext>
            </a:extLst>
          </p:cNvPr>
          <p:cNvSpPr>
            <a:spLocks xmlns:a="http://schemas.openxmlformats.org/drawingml/2006/main" noGrp="1"/>
          </p:cNvSpPr>
          <p:nvPr/>
        </p:nvSpPr>
        <p:spPr>
          <a:xfrm xmlns:a="http://schemas.openxmlformats.org/drawingml/2006/main">
            <a:off x="3333750" y="4286250"/>
            <a:ext cx="857250"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19" name="">
            <a:extLst xmlns:a="http://schemas.openxmlformats.org/drawingml/2006/main">
              <a:ext uri="{FF2B5EF4-FFF2-40B4-BE49-F238E27FC236}">
                <a16:creationId xmlns:a16="http://schemas.microsoft.com/office/drawing/2014/main" id="{C1CA7831-49FF-4393-9752-8650C0ED8293}"/>
              </a:ext>
            </a:extLst>
          </p:cNvPr>
          <p:cNvSpPr>
            <a:spLocks xmlns:a="http://schemas.openxmlformats.org/drawingml/2006/main" noGrp="1"/>
          </p:cNvSpPr>
          <p:nvPr/>
        </p:nvSpPr>
        <p:spPr>
          <a:xfrm xmlns:a="http://schemas.openxmlformats.org/drawingml/2006/main">
            <a:off x="4191000" y="3333750"/>
            <a:ext cx="0" cy="95250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20" name="">
            <a:extLst xmlns:a="http://schemas.openxmlformats.org/drawingml/2006/main">
              <a:ext uri="{FF2B5EF4-FFF2-40B4-BE49-F238E27FC236}">
                <a16:creationId xmlns:a16="http://schemas.microsoft.com/office/drawing/2014/main" id="{B4611D4E-BAF6-4109-A633-3762F165838C}"/>
              </a:ext>
            </a:extLst>
          </p:cNvPr>
          <p:cNvSpPr>
            <a:spLocks xmlns:a="http://schemas.openxmlformats.org/drawingml/2006/main" noGrp="1"/>
          </p:cNvSpPr>
          <p:nvPr/>
        </p:nvSpPr>
        <p:spPr>
          <a:xfrm xmlns:a="http://schemas.openxmlformats.org/drawingml/2006/main">
            <a:off x="7715250" y="3095625"/>
            <a:ext cx="904875"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21" name="">
            <a:extLst xmlns:a="http://schemas.openxmlformats.org/drawingml/2006/main">
              <a:ext uri="{FF2B5EF4-FFF2-40B4-BE49-F238E27FC236}">
                <a16:creationId xmlns:a16="http://schemas.microsoft.com/office/drawing/2014/main" id="{BBC3DA61-1AA3-499B-B180-B886A76AD865}"/>
              </a:ext>
            </a:extLst>
          </p:cNvPr>
          <p:cNvSpPr>
            <a:spLocks xmlns:a="http://schemas.openxmlformats.org/drawingml/2006/main" noGrp="1"/>
          </p:cNvSpPr>
          <p:nvPr/>
        </p:nvSpPr>
        <p:spPr>
          <a:xfrm xmlns:a="http://schemas.openxmlformats.org/drawingml/2006/main">
            <a:off x="5905500" y="4048125"/>
            <a:ext cx="0" cy="619125"/>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22" name="">
            <a:extLst xmlns:a="http://schemas.openxmlformats.org/drawingml/2006/main">
              <a:ext uri="{FF2B5EF4-FFF2-40B4-BE49-F238E27FC236}">
                <a16:creationId xmlns:a16="http://schemas.microsoft.com/office/drawing/2014/main" id="{F240A721-8B4B-433E-81FB-A4E3E40EDD54}"/>
              </a:ext>
            </a:extLst>
          </p:cNvPr>
          <p:cNvSpPr>
            <a:spLocks xmlns:a="http://schemas.openxmlformats.org/drawingml/2006/main" noGrp="1"/>
          </p:cNvSpPr>
          <p:nvPr/>
        </p:nvSpPr>
        <p:spPr>
          <a:xfrm xmlns:a="http://schemas.openxmlformats.org/drawingml/2006/main">
            <a:off x="8096250" y="4905375"/>
            <a:ext cx="523875"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23" name="">
            <a:extLst xmlns:a="http://schemas.openxmlformats.org/drawingml/2006/main">
              <a:ext uri="{FF2B5EF4-FFF2-40B4-BE49-F238E27FC236}">
                <a16:creationId xmlns:a16="http://schemas.microsoft.com/office/drawing/2014/main" id="{1C49564E-94A8-4BA0-9A30-E9E9B4E37761}"/>
              </a:ext>
            </a:extLst>
          </p:cNvPr>
          <p:cNvSpPr>
            <a:spLocks xmlns:a="http://schemas.openxmlformats.org/drawingml/2006/main" noGrp="1"/>
          </p:cNvSpPr>
          <p:nvPr/>
        </p:nvSpPr>
        <p:spPr>
          <a:xfrm xmlns:a="http://schemas.openxmlformats.org/drawingml/2006/main">
            <a:off x="8096250" y="3810000"/>
            <a:ext cx="0" cy="1095375"/>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24" name="">
            <a:extLst xmlns:a="http://schemas.openxmlformats.org/drawingml/2006/main">
              <a:ext uri="{FF2B5EF4-FFF2-40B4-BE49-F238E27FC236}">
                <a16:creationId xmlns:a16="http://schemas.microsoft.com/office/drawing/2014/main" id="{0353F34F-7D60-4E23-8CB8-F9194D3D9AA6}"/>
              </a:ext>
            </a:extLst>
          </p:cNvPr>
          <p:cNvSpPr>
            <a:spLocks xmlns:a="http://schemas.openxmlformats.org/drawingml/2006/main" noGrp="1"/>
          </p:cNvSpPr>
          <p:nvPr/>
        </p:nvSpPr>
        <p:spPr>
          <a:xfrm xmlns:a="http://schemas.openxmlformats.org/drawingml/2006/main">
            <a:off x="7715250" y="3810000"/>
            <a:ext cx="381000"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25" name="">
            <a:extLst xmlns:a="http://schemas.openxmlformats.org/drawingml/2006/main">
              <a:ext uri="{FF2B5EF4-FFF2-40B4-BE49-F238E27FC236}">
                <a16:creationId xmlns:a16="http://schemas.microsoft.com/office/drawing/2014/main" id="{C6DA1C94-FA2C-4103-A96A-C80B1740F9D2}"/>
              </a:ext>
            </a:extLst>
          </p:cNvPr>
          <p:cNvSpPr>
            <a:spLocks xmlns:a="http://schemas.openxmlformats.org/drawingml/2006/main" noGrp="1"/>
          </p:cNvSpPr>
          <p:nvPr/>
        </p:nvSpPr>
        <p:spPr>
          <a:xfrm xmlns:a="http://schemas.openxmlformats.org/drawingml/2006/main">
            <a:off x="7877175" y="207645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E2B"/>
                </a:solidFill>
                <a:latin typeface="Helvetica Neue"/>
                <a:ea typeface="Helvetica Neue"/>
                <a:cs typeface="Helvetica Neue"/>
              </a:defRPr>
            </a:pPr>
            <a:r>
              <a:rPr sz="1500" b="0">
                <a:solidFill>
                  <a:srgbClr val="132E2B"/>
                </a:solidFill>
                <a:latin typeface="Helvetica Neue"/>
                <a:ea typeface="Helvetica Neue"/>
                <a:cs typeface="Helvetica Neue"/>
              </a:rPr>
              <a:t>Event batches / ACK</a:t>
            </a:r>
          </a:p>
        </p:txBody>
      </p:sp>
      <p:sp>
        <p:nvSpPr>
          <p:cNvPr id="26" name="">
            <a:extLst xmlns:a="http://schemas.openxmlformats.org/drawingml/2006/main">
              <a:ext uri="{FF2B5EF4-FFF2-40B4-BE49-F238E27FC236}">
                <a16:creationId xmlns:a16="http://schemas.microsoft.com/office/drawing/2014/main" id="{78E513C5-537A-4232-B805-E738EA38D5B6}"/>
              </a:ext>
            </a:extLst>
          </p:cNvPr>
          <p:cNvSpPr>
            <a:spLocks xmlns:a="http://schemas.openxmlformats.org/drawingml/2006/main" noGrp="1"/>
          </p:cNvSpPr>
          <p:nvPr/>
        </p:nvSpPr>
        <p:spPr>
          <a:xfrm xmlns:a="http://schemas.openxmlformats.org/drawingml/2006/main">
            <a:off x="571500" y="58864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95318"/>
                </a:solidFill>
                <a:latin typeface="Helvetica Neue"/>
                <a:ea typeface="Helvetica Neue"/>
                <a:cs typeface="Helvetica Neue"/>
              </a:defRPr>
            </a:pPr>
            <a:r>
              <a:rPr sz="1725" b="0">
                <a:solidFill>
                  <a:srgbClr val="995318"/>
                </a:solidFill>
                <a:latin typeface="Helvetica Neue"/>
                <a:ea typeface="Helvetica Neue"/>
                <a:cs typeface="Helvetica Neue"/>
              </a:rPr>
              <a:t>Read-only first. Operator executes site actions under existing plant procedures.</a:t>
            </a:r>
          </a:p>
        </p:txBody>
      </p:sp>
    </p:spTree>
    <p:extLst>
      <p:ext uri="{BB962C8B-B14F-4D97-AF65-F5344CB8AC3E}">
        <p14:creationId xmlns:p14="http://schemas.microsoft.com/office/powerpoint/2010/main" val="1093889238"/>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1787F0D-9754-4702-AC2C-27DF436462F4}"/>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Operator journey and dashboard design</a:t>
            </a:r>
          </a:p>
        </p:txBody>
      </p:sp>
      <p:sp>
        <p:nvSpPr>
          <p:cNvPr id="2" name="">
            <a:extLst xmlns:a="http://schemas.openxmlformats.org/drawingml/2006/main">
              <a:ext uri="{FF2B5EF4-FFF2-40B4-BE49-F238E27FC236}">
                <a16:creationId xmlns:a16="http://schemas.microsoft.com/office/drawing/2014/main" id="{48DEC803-560A-4E88-B248-2CEF060527B3}"/>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Editable pilot wireframe. Illustrative values, not a screenshot of a completed SEC module</a:t>
            </a:r>
          </a:p>
        </p:txBody>
      </p:sp>
      <p:sp>
        <p:nvSpPr>
          <p:cNvPr id="3" name="">
            <a:extLst xmlns:a="http://schemas.openxmlformats.org/drawingml/2006/main">
              <a:ext uri="{FF2B5EF4-FFF2-40B4-BE49-F238E27FC236}">
                <a16:creationId xmlns:a16="http://schemas.microsoft.com/office/drawing/2014/main" id="{63C8CB3B-B123-4FEA-A3B6-37178EBBF678}"/>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E278A439-5B3C-4757-809C-769374EB33FB}"/>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47DA2C05-6707-410A-B8AF-27B1824E2E31}"/>
              </a:ext>
            </a:extLst>
          </p:cNvPr>
          <p:cNvSpPr>
            <a:spLocks xmlns:a="http://schemas.openxmlformats.org/drawingml/2006/main" noGrp="1"/>
          </p:cNvSpPr>
          <p:nvPr/>
        </p:nvSpPr>
        <p:spPr>
          <a:xfrm xmlns:a="http://schemas.openxmlformats.org/drawingml/2006/main">
            <a:off x="571500" y="2190750"/>
            <a:ext cx="7239000" cy="5524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6" name="">
            <a:extLst xmlns:a="http://schemas.openxmlformats.org/drawingml/2006/main">
              <a:ext uri="{FF2B5EF4-FFF2-40B4-BE49-F238E27FC236}">
                <a16:creationId xmlns:a16="http://schemas.microsoft.com/office/drawing/2014/main" id="{9FE9583D-5A37-4C42-A316-7A9895278022}"/>
              </a:ext>
            </a:extLst>
          </p:cNvPr>
          <p:cNvSpPr>
            <a:spLocks xmlns:a="http://schemas.openxmlformats.org/drawingml/2006/main" noGrp="1"/>
          </p:cNvSpPr>
          <p:nvPr/>
        </p:nvSpPr>
        <p:spPr>
          <a:xfrm xmlns:a="http://schemas.openxmlformats.org/drawingml/2006/main">
            <a:off x="704850" y="2305050"/>
            <a:ext cx="6972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GridForge     Plant review     Shift 1</a:t>
            </a:r>
          </a:p>
        </p:txBody>
      </p:sp>
      <p:sp>
        <p:nvSpPr>
          <p:cNvPr id="7" name="">
            <a:extLst xmlns:a="http://schemas.openxmlformats.org/drawingml/2006/main">
              <a:ext uri="{FF2B5EF4-FFF2-40B4-BE49-F238E27FC236}">
                <a16:creationId xmlns:a16="http://schemas.microsoft.com/office/drawing/2014/main" id="{69910259-3FEF-47F5-BE91-996DA43E3DA3}"/>
              </a:ext>
            </a:extLst>
          </p:cNvPr>
          <p:cNvSpPr>
            <a:spLocks xmlns:a="http://schemas.openxmlformats.org/drawingml/2006/main" noGrp="1"/>
          </p:cNvSpPr>
          <p:nvPr/>
        </p:nvSpPr>
        <p:spPr>
          <a:xfrm xmlns:a="http://schemas.openxmlformats.org/drawingml/2006/main">
            <a:off x="571500" y="2933700"/>
            <a:ext cx="2286000" cy="99060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8" name="">
            <a:extLst xmlns:a="http://schemas.openxmlformats.org/drawingml/2006/main">
              <a:ext uri="{FF2B5EF4-FFF2-40B4-BE49-F238E27FC236}">
                <a16:creationId xmlns:a16="http://schemas.microsoft.com/office/drawing/2014/main" id="{3EA9655A-6847-471A-A6EC-12C3EC217DDF}"/>
              </a:ext>
            </a:extLst>
          </p:cNvPr>
          <p:cNvSpPr>
            <a:spLocks xmlns:a="http://schemas.openxmlformats.org/drawingml/2006/main" noGrp="1"/>
          </p:cNvSpPr>
          <p:nvPr/>
        </p:nvSpPr>
        <p:spPr>
          <a:xfrm xmlns:a="http://schemas.openxmlformats.org/drawingml/2006/main">
            <a:off x="704850" y="3048000"/>
            <a:ext cx="2019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410 kW</a:t>
            </a:r>
          </a:p>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Quality: GOOD</a:t>
            </a:r>
          </a:p>
        </p:txBody>
      </p:sp>
      <p:sp>
        <p:nvSpPr>
          <p:cNvPr id="9" name="">
            <a:extLst xmlns:a="http://schemas.openxmlformats.org/drawingml/2006/main">
              <a:ext uri="{FF2B5EF4-FFF2-40B4-BE49-F238E27FC236}">
                <a16:creationId xmlns:a16="http://schemas.microsoft.com/office/drawing/2014/main" id="{A1903F09-8EEE-4D72-A5AE-D3E6F067FA2B}"/>
              </a:ext>
            </a:extLst>
          </p:cNvPr>
          <p:cNvSpPr>
            <a:spLocks xmlns:a="http://schemas.openxmlformats.org/drawingml/2006/main" noGrp="1"/>
          </p:cNvSpPr>
          <p:nvPr/>
        </p:nvSpPr>
        <p:spPr>
          <a:xfrm xmlns:a="http://schemas.openxmlformats.org/drawingml/2006/main">
            <a:off x="3048000" y="2933700"/>
            <a:ext cx="2286000" cy="990600"/>
          </a:xfrm>
          <a:prstGeom xmlns:a="http://schemas.openxmlformats.org/drawingml/2006/main" prst="rect">
            <a:avLst/>
          </a:prstGeom>
          <a:solidFill xmlns:a="http://schemas.openxmlformats.org/drawingml/2006/main">
            <a:srgbClr val="FFF4E8"/>
          </a:solidFill>
          <a:ln xmlns:a="http://schemas.openxmlformats.org/drawingml/2006/main" w="14288">
            <a:solidFill>
              <a:srgbClr val="995318"/>
            </a:solidFill>
            <a:prstDash val="dash"/>
          </a:ln>
        </p:spPr>
      </p:sp>
      <p:sp>
        <p:nvSpPr>
          <p:cNvPr id="10" name="">
            <a:extLst xmlns:a="http://schemas.openxmlformats.org/drawingml/2006/main">
              <a:ext uri="{FF2B5EF4-FFF2-40B4-BE49-F238E27FC236}">
                <a16:creationId xmlns:a16="http://schemas.microsoft.com/office/drawing/2014/main" id="{F242EF4D-844D-44E5-B602-90B7EE4F6700}"/>
              </a:ext>
            </a:extLst>
          </p:cNvPr>
          <p:cNvSpPr>
            <a:spLocks xmlns:a="http://schemas.openxmlformats.org/drawingml/2006/main" noGrp="1"/>
          </p:cNvSpPr>
          <p:nvPr/>
        </p:nvSpPr>
        <p:spPr>
          <a:xfrm xmlns:a="http://schemas.openxmlformats.org/drawingml/2006/main">
            <a:off x="3181350" y="3048000"/>
            <a:ext cx="2019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95318"/>
                </a:solidFill>
                <a:latin typeface="Helvetica Neue"/>
                <a:ea typeface="Helvetica Neue"/>
                <a:cs typeface="Helvetica Neue"/>
              </a:defRPr>
            </a:pPr>
            <a:r>
              <a:rPr sz="1875" b="0">
                <a:solidFill>
                  <a:srgbClr val="995318"/>
                </a:solidFill>
                <a:latin typeface="Helvetica Neue"/>
                <a:ea typeface="Helvetica Neue"/>
                <a:cs typeface="Helvetica Neue"/>
              </a:rPr>
              <a:t>Electricity SEC</a:t>
            </a:r>
          </a:p>
          <a:p xmlns:a="http://schemas.openxmlformats.org/drawingml/2006/main">
            <a:pPr>
              <a:defRPr sz="1875" b="0">
                <a:solidFill>
                  <a:srgbClr val="995318"/>
                </a:solidFill>
                <a:latin typeface="Helvetica Neue"/>
                <a:ea typeface="Helvetica Neue"/>
                <a:cs typeface="Helvetica Neue"/>
              </a:defRPr>
            </a:pPr>
            <a:r>
              <a:rPr sz="1875" b="0">
                <a:solidFill>
                  <a:srgbClr val="995318"/>
                </a:solidFill>
                <a:latin typeface="Helvetica Neue"/>
                <a:ea typeface="Helvetica Neue"/>
                <a:cs typeface="Helvetica Neue"/>
              </a:rPr>
              <a:t>980 kWh/good t</a:t>
            </a:r>
          </a:p>
        </p:txBody>
      </p:sp>
      <p:sp>
        <p:nvSpPr>
          <p:cNvPr id="11" name="">
            <a:extLst xmlns:a="http://schemas.openxmlformats.org/drawingml/2006/main">
              <a:ext uri="{FF2B5EF4-FFF2-40B4-BE49-F238E27FC236}">
                <a16:creationId xmlns:a16="http://schemas.microsoft.com/office/drawing/2014/main" id="{AF7AA447-DD0D-477F-95D8-762DB77CFF8B}"/>
              </a:ext>
            </a:extLst>
          </p:cNvPr>
          <p:cNvSpPr>
            <a:spLocks xmlns:a="http://schemas.openxmlformats.org/drawingml/2006/main" noGrp="1"/>
          </p:cNvSpPr>
          <p:nvPr/>
        </p:nvSpPr>
        <p:spPr>
          <a:xfrm xmlns:a="http://schemas.openxmlformats.org/drawingml/2006/main">
            <a:off x="5524500" y="2933700"/>
            <a:ext cx="2286000" cy="990600"/>
          </a:xfrm>
          <a:prstGeom xmlns:a="http://schemas.openxmlformats.org/drawingml/2006/main" prst="rect">
            <a:avLst/>
          </a:prstGeom>
          <a:solidFill xmlns:a="http://schemas.openxmlformats.org/drawingml/2006/main">
            <a:srgbClr val="FFF4E8"/>
          </a:solidFill>
          <a:ln xmlns:a="http://schemas.openxmlformats.org/drawingml/2006/main" w="14288">
            <a:solidFill>
              <a:srgbClr val="995318"/>
            </a:solidFill>
            <a:prstDash val="dash"/>
          </a:ln>
        </p:spPr>
      </p:sp>
      <p:sp>
        <p:nvSpPr>
          <p:cNvPr id="12" name="">
            <a:extLst xmlns:a="http://schemas.openxmlformats.org/drawingml/2006/main">
              <a:ext uri="{FF2B5EF4-FFF2-40B4-BE49-F238E27FC236}">
                <a16:creationId xmlns:a16="http://schemas.microsoft.com/office/drawing/2014/main" id="{8E29EB5A-1C2A-47F1-A4CA-38F16B06A88E}"/>
              </a:ext>
            </a:extLst>
          </p:cNvPr>
          <p:cNvSpPr>
            <a:spLocks xmlns:a="http://schemas.openxmlformats.org/drawingml/2006/main" noGrp="1"/>
          </p:cNvSpPr>
          <p:nvPr/>
        </p:nvSpPr>
        <p:spPr>
          <a:xfrm xmlns:a="http://schemas.openxmlformats.org/drawingml/2006/main">
            <a:off x="5657850" y="3048000"/>
            <a:ext cx="2019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95318"/>
                </a:solidFill>
                <a:latin typeface="Helvetica Neue"/>
                <a:ea typeface="Helvetica Neue"/>
                <a:cs typeface="Helvetica Neue"/>
              </a:defRPr>
            </a:pPr>
            <a:r>
              <a:rPr sz="1875" b="0">
                <a:solidFill>
                  <a:srgbClr val="995318"/>
                </a:solidFill>
                <a:latin typeface="Helvetica Neue"/>
                <a:ea typeface="Helvetica Neue"/>
                <a:cs typeface="Helvetica Neue"/>
              </a:rPr>
              <a:t>100 good tonnes</a:t>
            </a:r>
          </a:p>
          <a:p xmlns:a="http://schemas.openxmlformats.org/drawingml/2006/main">
            <a:pPr>
              <a:defRPr sz="1875" b="0">
                <a:solidFill>
                  <a:srgbClr val="995318"/>
                </a:solidFill>
                <a:latin typeface="Helvetica Neue"/>
                <a:ea typeface="Helvetica Neue"/>
                <a:cs typeface="Helvetica Neue"/>
              </a:defRPr>
            </a:pPr>
            <a:r>
              <a:rPr sz="1875" b="0">
                <a:solidFill>
                  <a:srgbClr val="995318"/>
                </a:solidFill>
                <a:latin typeface="Helvetica Neue"/>
                <a:ea typeface="Helvetica Neue"/>
                <a:cs typeface="Helvetica Neue"/>
              </a:rPr>
              <a:t>Review quality</a:t>
            </a:r>
          </a:p>
        </p:txBody>
      </p:sp>
      <p:sp>
        <p:nvSpPr>
          <p:cNvPr id="13" name="">
            <a:extLst xmlns:a="http://schemas.openxmlformats.org/drawingml/2006/main">
              <a:ext uri="{FF2B5EF4-FFF2-40B4-BE49-F238E27FC236}">
                <a16:creationId xmlns:a16="http://schemas.microsoft.com/office/drawing/2014/main" id="{B066D73B-F348-4B28-9EA3-2617C4A845B2}"/>
              </a:ext>
            </a:extLst>
          </p:cNvPr>
          <p:cNvSpPr>
            <a:spLocks xmlns:a="http://schemas.openxmlformats.org/drawingml/2006/main" noGrp="1"/>
          </p:cNvSpPr>
          <p:nvPr/>
        </p:nvSpPr>
        <p:spPr>
          <a:xfrm xmlns:a="http://schemas.openxmlformats.org/drawingml/2006/main">
            <a:off x="571500" y="4133850"/>
            <a:ext cx="7239000" cy="12382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14" name="">
            <a:extLst xmlns:a="http://schemas.openxmlformats.org/drawingml/2006/main">
              <a:ext uri="{FF2B5EF4-FFF2-40B4-BE49-F238E27FC236}">
                <a16:creationId xmlns:a16="http://schemas.microsoft.com/office/drawing/2014/main" id="{7EB37385-16CC-45D7-B9C8-41D8B76EEAA3}"/>
              </a:ext>
            </a:extLst>
          </p:cNvPr>
          <p:cNvSpPr>
            <a:spLocks xmlns:a="http://schemas.openxmlformats.org/drawingml/2006/main" noGrp="1"/>
          </p:cNvSpPr>
          <p:nvPr/>
        </p:nvSpPr>
        <p:spPr>
          <a:xfrm xmlns:a="http://schemas.openxmlformats.org/drawingml/2006/main">
            <a:off x="704850" y="4248150"/>
            <a:ext cx="6972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Proposal evidence</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Idle auxiliary load needs operator inspection.</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Critical process excluded. Recheck freshness before approval.</a:t>
            </a:r>
          </a:p>
        </p:txBody>
      </p:sp>
      <p:sp>
        <p:nvSpPr>
          <p:cNvPr id="15" name="">
            <a:extLst xmlns:a="http://schemas.openxmlformats.org/drawingml/2006/main">
              <a:ext uri="{FF2B5EF4-FFF2-40B4-BE49-F238E27FC236}">
                <a16:creationId xmlns:a16="http://schemas.microsoft.com/office/drawing/2014/main" id="{00CC39B3-E1C3-4240-A8A8-D281DBC42DA8}"/>
              </a:ext>
            </a:extLst>
          </p:cNvPr>
          <p:cNvSpPr>
            <a:spLocks xmlns:a="http://schemas.openxmlformats.org/drawingml/2006/main" noGrp="1"/>
          </p:cNvSpPr>
          <p:nvPr/>
        </p:nvSpPr>
        <p:spPr>
          <a:xfrm xmlns:a="http://schemas.openxmlformats.org/drawingml/2006/main">
            <a:off x="8477250" y="2190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69"/>
                </a:solidFill>
                <a:latin typeface="Helvetica Neue"/>
                <a:ea typeface="Helvetica Neue"/>
                <a:cs typeface="Helvetica Neue"/>
              </a:defRPr>
            </a:pPr>
            <a:r>
              <a:rPr sz="2100" b="1">
                <a:solidFill>
                  <a:srgbClr val="087F69"/>
                </a:solidFill>
                <a:latin typeface="Helvetica Neue"/>
                <a:ea typeface="Helvetica Neue"/>
                <a:cs typeface="Helvetica Neue"/>
              </a:rPr>
              <a:t>Review flow</a:t>
            </a:r>
          </a:p>
        </p:txBody>
      </p:sp>
      <p:sp>
        <p:nvSpPr>
          <p:cNvPr id="16" name="">
            <a:extLst xmlns:a="http://schemas.openxmlformats.org/drawingml/2006/main">
              <a:ext uri="{FF2B5EF4-FFF2-40B4-BE49-F238E27FC236}">
                <a16:creationId xmlns:a16="http://schemas.microsoft.com/office/drawing/2014/main" id="{43D67DEB-E9C1-4355-A182-062D8F1C12D6}"/>
              </a:ext>
            </a:extLst>
          </p:cNvPr>
          <p:cNvSpPr>
            <a:spLocks xmlns:a="http://schemas.openxmlformats.org/drawingml/2006/main" noGrp="1"/>
          </p:cNvSpPr>
          <p:nvPr/>
        </p:nvSpPr>
        <p:spPr>
          <a:xfrm xmlns:a="http://schemas.openxmlformats.org/drawingml/2006/main">
            <a:off x="8477250" y="2781300"/>
            <a:ext cx="3095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01  Inspect load and quality</a:t>
            </a:r>
          </a:p>
          <a:p xmlns:a="http://schemas.openxmlformats.org/drawingml/2006/main">
            <a:r>
              <a:t/>
            </a:r>
          </a:p>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02  Read constraint reasons</a:t>
            </a:r>
          </a:p>
          <a:p xmlns:a="http://schemas.openxmlformats.org/drawingml/2006/main">
            <a:r>
              <a:t/>
            </a:r>
          </a:p>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03  Approve eligible action</a:t>
            </a:r>
          </a:p>
          <a:p xmlns:a="http://schemas.openxmlformats.org/drawingml/2006/main">
            <a:r>
              <a:t/>
            </a:r>
          </a:p>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04  Verify outcome and output</a:t>
            </a:r>
          </a:p>
        </p:txBody>
      </p:sp>
      <p:sp>
        <p:nvSpPr>
          <p:cNvPr id="17" name="">
            <a:extLst xmlns:a="http://schemas.openxmlformats.org/drawingml/2006/main">
              <a:ext uri="{FF2B5EF4-FFF2-40B4-BE49-F238E27FC236}">
                <a16:creationId xmlns:a16="http://schemas.microsoft.com/office/drawing/2014/main" id="{0DD33FC5-3068-40A3-8069-48F46620E2AE}"/>
              </a:ext>
            </a:extLst>
          </p:cNvPr>
          <p:cNvSpPr>
            <a:spLocks xmlns:a="http://schemas.openxmlformats.org/drawingml/2006/main" noGrp="1"/>
          </p:cNvSpPr>
          <p:nvPr/>
        </p:nvSpPr>
        <p:spPr>
          <a:xfrm xmlns:a="http://schemas.openxmlformats.org/drawingml/2006/main">
            <a:off x="571500" y="5819775"/>
            <a:ext cx="1100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Current UI already supports telemetry, proposals, approval, verification and audit.</a:t>
            </a:r>
          </a:p>
        </p:txBody>
      </p:sp>
    </p:spTree>
    <p:extLst>
      <p:ext uri="{BB962C8B-B14F-4D97-AF65-F5344CB8AC3E}">
        <p14:creationId xmlns:p14="http://schemas.microsoft.com/office/powerpoint/2010/main" val="537983636"/>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91BC937-FC40-4CF0-8869-B5EF59299654}"/>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Data model and decision traceability</a:t>
            </a:r>
          </a:p>
        </p:txBody>
      </p:sp>
      <p:sp>
        <p:nvSpPr>
          <p:cNvPr id="2" name="">
            <a:extLst xmlns:a="http://schemas.openxmlformats.org/drawingml/2006/main">
              <a:ext uri="{FF2B5EF4-FFF2-40B4-BE49-F238E27FC236}">
                <a16:creationId xmlns:a16="http://schemas.microsoft.com/office/drawing/2014/main" id="{712F7A4D-2CB1-47E8-A37C-F2659304A6E0}"/>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Versioned records connect a measurement to its resulting financial assessment</a:t>
            </a:r>
          </a:p>
        </p:txBody>
      </p:sp>
      <p:sp>
        <p:nvSpPr>
          <p:cNvPr id="3" name="">
            <a:extLst xmlns:a="http://schemas.openxmlformats.org/drawingml/2006/main">
              <a:ext uri="{FF2B5EF4-FFF2-40B4-BE49-F238E27FC236}">
                <a16:creationId xmlns:a16="http://schemas.microsoft.com/office/drawing/2014/main" id="{B2CE2C1F-AF65-4B7B-B2AA-444C78EF5533}"/>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F88B77B6-4C33-405D-BC3A-CEE5BEE5285B}"/>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17B017DB-D24F-4A52-8443-2C428B7E27D2}"/>
              </a:ext>
            </a:extLst>
          </p:cNvPr>
          <p:cNvSpPr>
            <a:spLocks xmlns:a="http://schemas.openxmlformats.org/drawingml/2006/main" noGrp="1"/>
          </p:cNvSpPr>
          <p:nvPr/>
        </p:nvSpPr>
        <p:spPr>
          <a:xfrm xmlns:a="http://schemas.openxmlformats.org/drawingml/2006/main">
            <a:off x="571500" y="2286000"/>
            <a:ext cx="3238500" cy="12382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6" name="">
            <a:extLst xmlns:a="http://schemas.openxmlformats.org/drawingml/2006/main">
              <a:ext uri="{FF2B5EF4-FFF2-40B4-BE49-F238E27FC236}">
                <a16:creationId xmlns:a16="http://schemas.microsoft.com/office/drawing/2014/main" id="{0CD8F2E4-E57A-4036-8AD3-3E70EB6A8DD6}"/>
              </a:ext>
            </a:extLst>
          </p:cNvPr>
          <p:cNvSpPr>
            <a:spLocks xmlns:a="http://schemas.openxmlformats.org/drawingml/2006/main" noGrp="1"/>
          </p:cNvSpPr>
          <p:nvPr/>
        </p:nvSpPr>
        <p:spPr>
          <a:xfrm xmlns:a="http://schemas.openxmlformats.org/drawingml/2006/main">
            <a:off x="704850" y="2400300"/>
            <a:ext cx="297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Telemetry point</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asset, UTC time, kW</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quality, mapping revision</a:t>
            </a:r>
          </a:p>
        </p:txBody>
      </p:sp>
      <p:sp>
        <p:nvSpPr>
          <p:cNvPr id="7" name="">
            <a:extLst xmlns:a="http://schemas.openxmlformats.org/drawingml/2006/main">
              <a:ext uri="{FF2B5EF4-FFF2-40B4-BE49-F238E27FC236}">
                <a16:creationId xmlns:a16="http://schemas.microsoft.com/office/drawing/2014/main" id="{CA76BF96-1229-453D-9E61-B925A42AAEAF}"/>
              </a:ext>
            </a:extLst>
          </p:cNvPr>
          <p:cNvSpPr>
            <a:spLocks xmlns:a="http://schemas.openxmlformats.org/drawingml/2006/main" noGrp="1"/>
          </p:cNvSpPr>
          <p:nvPr/>
        </p:nvSpPr>
        <p:spPr>
          <a:xfrm xmlns:a="http://schemas.openxmlformats.org/drawingml/2006/main">
            <a:off x="4476750" y="2286000"/>
            <a:ext cx="3238500" cy="12382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8" name="">
            <a:extLst xmlns:a="http://schemas.openxmlformats.org/drawingml/2006/main">
              <a:ext uri="{FF2B5EF4-FFF2-40B4-BE49-F238E27FC236}">
                <a16:creationId xmlns:a16="http://schemas.microsoft.com/office/drawing/2014/main" id="{D1165278-4443-454C-9971-DA7C8B705025}"/>
              </a:ext>
            </a:extLst>
          </p:cNvPr>
          <p:cNvSpPr>
            <a:spLocks xmlns:a="http://schemas.openxmlformats.org/drawingml/2006/main" noGrp="1"/>
          </p:cNvSpPr>
          <p:nvPr/>
        </p:nvSpPr>
        <p:spPr>
          <a:xfrm xmlns:a="http://schemas.openxmlformats.org/drawingml/2006/main">
            <a:off x="4610100" y="2400300"/>
            <a:ext cx="297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Prediction + proposal</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input digest, model version</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constraints, policy version</a:t>
            </a:r>
          </a:p>
        </p:txBody>
      </p:sp>
      <p:sp>
        <p:nvSpPr>
          <p:cNvPr id="9" name="">
            <a:extLst xmlns:a="http://schemas.openxmlformats.org/drawingml/2006/main">
              <a:ext uri="{FF2B5EF4-FFF2-40B4-BE49-F238E27FC236}">
                <a16:creationId xmlns:a16="http://schemas.microsoft.com/office/drawing/2014/main" id="{7DE3E2FE-730D-4759-954C-A75C2ADF698E}"/>
              </a:ext>
            </a:extLst>
          </p:cNvPr>
          <p:cNvSpPr>
            <a:spLocks xmlns:a="http://schemas.openxmlformats.org/drawingml/2006/main" noGrp="1"/>
          </p:cNvSpPr>
          <p:nvPr/>
        </p:nvSpPr>
        <p:spPr>
          <a:xfrm xmlns:a="http://schemas.openxmlformats.org/drawingml/2006/main">
            <a:off x="8382000" y="2286000"/>
            <a:ext cx="3238500" cy="12382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10" name="">
            <a:extLst xmlns:a="http://schemas.openxmlformats.org/drawingml/2006/main">
              <a:ext uri="{FF2B5EF4-FFF2-40B4-BE49-F238E27FC236}">
                <a16:creationId xmlns:a16="http://schemas.microsoft.com/office/drawing/2014/main" id="{EAB7ABA4-5FC1-4CC8-91D0-80C7E62F25AB}"/>
              </a:ext>
            </a:extLst>
          </p:cNvPr>
          <p:cNvSpPr>
            <a:spLocks xmlns:a="http://schemas.openxmlformats.org/drawingml/2006/main" noGrp="1"/>
          </p:cNvSpPr>
          <p:nvPr/>
        </p:nvSpPr>
        <p:spPr>
          <a:xfrm xmlns:a="http://schemas.openxmlformats.org/drawingml/2006/main">
            <a:off x="8515350" y="2400300"/>
            <a:ext cx="297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Approval + command</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actor, reason, expiry</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ACK and execution state</a:t>
            </a:r>
          </a:p>
        </p:txBody>
      </p:sp>
      <p:sp>
        <p:nvSpPr>
          <p:cNvPr id="11" name="">
            <a:extLst xmlns:a="http://schemas.openxmlformats.org/drawingml/2006/main">
              <a:ext uri="{FF2B5EF4-FFF2-40B4-BE49-F238E27FC236}">
                <a16:creationId xmlns:a16="http://schemas.microsoft.com/office/drawing/2014/main" id="{337D48EC-B8EC-43E1-853C-2A4FDB23F931}"/>
              </a:ext>
            </a:extLst>
          </p:cNvPr>
          <p:cNvSpPr>
            <a:spLocks xmlns:a="http://schemas.openxmlformats.org/drawingml/2006/main" noGrp="1"/>
          </p:cNvSpPr>
          <p:nvPr/>
        </p:nvSpPr>
        <p:spPr>
          <a:xfrm xmlns:a="http://schemas.openxmlformats.org/drawingml/2006/main">
            <a:off x="3810000" y="2905125"/>
            <a:ext cx="666750"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12" name="">
            <a:extLst xmlns:a="http://schemas.openxmlformats.org/drawingml/2006/main">
              <a:ext uri="{FF2B5EF4-FFF2-40B4-BE49-F238E27FC236}">
                <a16:creationId xmlns:a16="http://schemas.microsoft.com/office/drawing/2014/main" id="{47AEBC9E-276D-47CA-BA36-40EBD7F42BCB}"/>
              </a:ext>
            </a:extLst>
          </p:cNvPr>
          <p:cNvSpPr>
            <a:spLocks xmlns:a="http://schemas.openxmlformats.org/drawingml/2006/main" noGrp="1"/>
          </p:cNvSpPr>
          <p:nvPr/>
        </p:nvSpPr>
        <p:spPr>
          <a:xfrm xmlns:a="http://schemas.openxmlformats.org/drawingml/2006/main">
            <a:off x="7715250" y="2905125"/>
            <a:ext cx="666750"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13" name="">
            <a:extLst xmlns:a="http://schemas.openxmlformats.org/drawingml/2006/main">
              <a:ext uri="{FF2B5EF4-FFF2-40B4-BE49-F238E27FC236}">
                <a16:creationId xmlns:a16="http://schemas.microsoft.com/office/drawing/2014/main" id="{7E736A60-7892-4B55-BB1F-D70F2755FC32}"/>
              </a:ext>
            </a:extLst>
          </p:cNvPr>
          <p:cNvSpPr>
            <a:spLocks xmlns:a="http://schemas.openxmlformats.org/drawingml/2006/main" noGrp="1"/>
          </p:cNvSpPr>
          <p:nvPr/>
        </p:nvSpPr>
        <p:spPr>
          <a:xfrm xmlns:a="http://schemas.openxmlformats.org/drawingml/2006/main">
            <a:off x="571500" y="4286250"/>
            <a:ext cx="3238500" cy="1238250"/>
          </a:xfrm>
          <a:prstGeom xmlns:a="http://schemas.openxmlformats.org/drawingml/2006/main" prst="rect">
            <a:avLst/>
          </a:prstGeom>
          <a:solidFill xmlns:a="http://schemas.openxmlformats.org/drawingml/2006/main">
            <a:srgbClr val="FFF4E8"/>
          </a:solidFill>
          <a:ln xmlns:a="http://schemas.openxmlformats.org/drawingml/2006/main" w="14288">
            <a:solidFill>
              <a:srgbClr val="995318"/>
            </a:solidFill>
            <a:prstDash val="dash"/>
          </a:ln>
        </p:spPr>
      </p:sp>
      <p:sp>
        <p:nvSpPr>
          <p:cNvPr id="14" name="">
            <a:extLst xmlns:a="http://schemas.openxmlformats.org/drawingml/2006/main">
              <a:ext uri="{FF2B5EF4-FFF2-40B4-BE49-F238E27FC236}">
                <a16:creationId xmlns:a16="http://schemas.microsoft.com/office/drawing/2014/main" id="{44DC0FAA-70CA-45BD-A146-ED06BA9F2AAB}"/>
              </a:ext>
            </a:extLst>
          </p:cNvPr>
          <p:cNvSpPr>
            <a:spLocks xmlns:a="http://schemas.openxmlformats.org/drawingml/2006/main" noGrp="1"/>
          </p:cNvSpPr>
          <p:nvPr/>
        </p:nvSpPr>
        <p:spPr>
          <a:xfrm xmlns:a="http://schemas.openxmlformats.org/drawingml/2006/main">
            <a:off x="704850" y="4400550"/>
            <a:ext cx="297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95318"/>
                </a:solidFill>
                <a:latin typeface="Helvetica Neue"/>
                <a:ea typeface="Helvetica Neue"/>
                <a:cs typeface="Helvetica Neue"/>
              </a:defRPr>
            </a:pPr>
            <a:r>
              <a:rPr sz="1800" b="0">
                <a:solidFill>
                  <a:srgbClr val="995318"/>
                </a:solidFill>
                <a:latin typeface="Helvetica Neue"/>
                <a:ea typeface="Helvetica Neue"/>
                <a:cs typeface="Helvetica Neue"/>
              </a:rPr>
              <a:t>Production [planned]</a:t>
            </a:r>
          </a:p>
          <a:p xmlns:a="http://schemas.openxmlformats.org/drawingml/2006/main">
            <a:pPr>
              <a:defRPr sz="1800" b="0">
                <a:solidFill>
                  <a:srgbClr val="995318"/>
                </a:solidFill>
                <a:latin typeface="Helvetica Neue"/>
                <a:ea typeface="Helvetica Neue"/>
                <a:cs typeface="Helvetica Neue"/>
              </a:defRPr>
            </a:pPr>
            <a:r>
              <a:rPr sz="1800" b="0">
                <a:solidFill>
                  <a:srgbClr val="995318"/>
                </a:solidFill>
                <a:latin typeface="Helvetica Neue"/>
                <a:ea typeface="Helvetica Neue"/>
                <a:cs typeface="Helvetica Neue"/>
              </a:rPr>
              <a:t>shift, SKU, good tonnes</a:t>
            </a:r>
          </a:p>
          <a:p xmlns:a="http://schemas.openxmlformats.org/drawingml/2006/main">
            <a:pPr>
              <a:defRPr sz="1800" b="0">
                <a:solidFill>
                  <a:srgbClr val="995318"/>
                </a:solidFill>
                <a:latin typeface="Helvetica Neue"/>
                <a:ea typeface="Helvetica Neue"/>
                <a:cs typeface="Helvetica Neue"/>
              </a:defRPr>
            </a:pPr>
            <a:r>
              <a:rPr sz="1800" b="0">
                <a:solidFill>
                  <a:srgbClr val="995318"/>
                </a:solidFill>
                <a:latin typeface="Helvetica Neue"/>
                <a:ea typeface="Helvetica Neue"/>
                <a:cs typeface="Helvetica Neue"/>
              </a:rPr>
              <a:t>rejects, hours</a:t>
            </a:r>
          </a:p>
        </p:txBody>
      </p:sp>
      <p:sp>
        <p:nvSpPr>
          <p:cNvPr id="15" name="">
            <a:extLst xmlns:a="http://schemas.openxmlformats.org/drawingml/2006/main">
              <a:ext uri="{FF2B5EF4-FFF2-40B4-BE49-F238E27FC236}">
                <a16:creationId xmlns:a16="http://schemas.microsoft.com/office/drawing/2014/main" id="{B59A5BC0-9753-40CE-BFF6-026BB9FF19DC}"/>
              </a:ext>
            </a:extLst>
          </p:cNvPr>
          <p:cNvSpPr>
            <a:spLocks xmlns:a="http://schemas.openxmlformats.org/drawingml/2006/main" noGrp="1"/>
          </p:cNvSpPr>
          <p:nvPr/>
        </p:nvSpPr>
        <p:spPr>
          <a:xfrm xmlns:a="http://schemas.openxmlformats.org/drawingml/2006/main">
            <a:off x="4476750" y="4286250"/>
            <a:ext cx="3238500" cy="12382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16" name="">
            <a:extLst xmlns:a="http://schemas.openxmlformats.org/drawingml/2006/main">
              <a:ext uri="{FF2B5EF4-FFF2-40B4-BE49-F238E27FC236}">
                <a16:creationId xmlns:a16="http://schemas.microsoft.com/office/drawing/2014/main" id="{A9F58B6C-08B2-453D-8F34-E1C4D9186D02}"/>
              </a:ext>
            </a:extLst>
          </p:cNvPr>
          <p:cNvSpPr>
            <a:spLocks xmlns:a="http://schemas.openxmlformats.org/drawingml/2006/main" noGrp="1"/>
          </p:cNvSpPr>
          <p:nvPr/>
        </p:nvSpPr>
        <p:spPr>
          <a:xfrm xmlns:a="http://schemas.openxmlformats.org/drawingml/2006/main">
            <a:off x="4610100" y="4400550"/>
            <a:ext cx="297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Verification + ledger</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baseline, actual, rebound</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tariff version, evidence</a:t>
            </a:r>
          </a:p>
        </p:txBody>
      </p:sp>
      <p:sp>
        <p:nvSpPr>
          <p:cNvPr id="17" name="">
            <a:extLst xmlns:a="http://schemas.openxmlformats.org/drawingml/2006/main">
              <a:ext uri="{FF2B5EF4-FFF2-40B4-BE49-F238E27FC236}">
                <a16:creationId xmlns:a16="http://schemas.microsoft.com/office/drawing/2014/main" id="{255A31F8-B510-4EFD-AF7C-4A3F7E9F9FA0}"/>
              </a:ext>
            </a:extLst>
          </p:cNvPr>
          <p:cNvSpPr>
            <a:spLocks xmlns:a="http://schemas.openxmlformats.org/drawingml/2006/main" noGrp="1"/>
          </p:cNvSpPr>
          <p:nvPr/>
        </p:nvSpPr>
        <p:spPr>
          <a:xfrm xmlns:a="http://schemas.openxmlformats.org/drawingml/2006/main">
            <a:off x="8382000" y="4286250"/>
            <a:ext cx="3238500" cy="1238250"/>
          </a:xfrm>
          <a:prstGeom xmlns:a="http://schemas.openxmlformats.org/drawingml/2006/main" prst="rect">
            <a:avLst/>
          </a:prstGeom>
          <a:solidFill xmlns:a="http://schemas.openxmlformats.org/drawingml/2006/main">
            <a:srgbClr val="E4EEE8"/>
          </a:solidFill>
          <a:ln xmlns:a="http://schemas.openxmlformats.org/drawingml/2006/main" w="14288">
            <a:solidFill>
              <a:srgbClr val="087F69"/>
            </a:solidFill>
            <a:prstDash val="solid"/>
          </a:ln>
        </p:spPr>
      </p:sp>
      <p:sp>
        <p:nvSpPr>
          <p:cNvPr id="18" name="">
            <a:extLst xmlns:a="http://schemas.openxmlformats.org/drawingml/2006/main">
              <a:ext uri="{FF2B5EF4-FFF2-40B4-BE49-F238E27FC236}">
                <a16:creationId xmlns:a16="http://schemas.microsoft.com/office/drawing/2014/main" id="{3FE73A6E-BF2E-44EC-B5A7-C962F5BAA853}"/>
              </a:ext>
            </a:extLst>
          </p:cNvPr>
          <p:cNvSpPr>
            <a:spLocks xmlns:a="http://schemas.openxmlformats.org/drawingml/2006/main" noGrp="1"/>
          </p:cNvSpPr>
          <p:nvPr/>
        </p:nvSpPr>
        <p:spPr>
          <a:xfrm xmlns:a="http://schemas.openxmlformats.org/drawingml/2006/main">
            <a:off x="8515350" y="4400550"/>
            <a:ext cx="297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Audit + sync event</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correlation ID, digest</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sequence, replay key</a:t>
            </a:r>
          </a:p>
        </p:txBody>
      </p:sp>
      <p:sp>
        <p:nvSpPr>
          <p:cNvPr id="19" name="">
            <a:extLst xmlns:a="http://schemas.openxmlformats.org/drawingml/2006/main">
              <a:ext uri="{FF2B5EF4-FFF2-40B4-BE49-F238E27FC236}">
                <a16:creationId xmlns:a16="http://schemas.microsoft.com/office/drawing/2014/main" id="{22E046AE-A69B-4F5D-880E-DB011010FB2A}"/>
              </a:ext>
            </a:extLst>
          </p:cNvPr>
          <p:cNvSpPr>
            <a:spLocks xmlns:a="http://schemas.openxmlformats.org/drawingml/2006/main" noGrp="1"/>
          </p:cNvSpPr>
          <p:nvPr/>
        </p:nvSpPr>
        <p:spPr>
          <a:xfrm xmlns:a="http://schemas.openxmlformats.org/drawingml/2006/main">
            <a:off x="10001250" y="3524250"/>
            <a:ext cx="0" cy="76200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20" name="">
            <a:extLst xmlns:a="http://schemas.openxmlformats.org/drawingml/2006/main">
              <a:ext uri="{FF2B5EF4-FFF2-40B4-BE49-F238E27FC236}">
                <a16:creationId xmlns:a16="http://schemas.microsoft.com/office/drawing/2014/main" id="{51D52519-BA00-4AB8-85C5-C020727267FF}"/>
              </a:ext>
            </a:extLst>
          </p:cNvPr>
          <p:cNvSpPr>
            <a:spLocks xmlns:a="http://schemas.openxmlformats.org/drawingml/2006/main" noGrp="1"/>
          </p:cNvSpPr>
          <p:nvPr/>
        </p:nvSpPr>
        <p:spPr>
          <a:xfrm xmlns:a="http://schemas.openxmlformats.org/drawingml/2006/main">
            <a:off x="7715250" y="4905375"/>
            <a:ext cx="666750"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
        <p:nvSpPr>
          <p:cNvPr id="21" name="">
            <a:extLst xmlns:a="http://schemas.openxmlformats.org/drawingml/2006/main">
              <a:ext uri="{FF2B5EF4-FFF2-40B4-BE49-F238E27FC236}">
                <a16:creationId xmlns:a16="http://schemas.microsoft.com/office/drawing/2014/main" id="{F7544A45-9A6A-4550-BAB0-2BB24F00109E}"/>
              </a:ext>
            </a:extLst>
          </p:cNvPr>
          <p:cNvSpPr>
            <a:spLocks xmlns:a="http://schemas.openxmlformats.org/drawingml/2006/main" noGrp="1"/>
          </p:cNvSpPr>
          <p:nvPr/>
        </p:nvSpPr>
        <p:spPr>
          <a:xfrm xmlns:a="http://schemas.openxmlformats.org/drawingml/2006/main">
            <a:off x="3810000" y="4905375"/>
            <a:ext cx="666750" cy="0"/>
          </a:xfrm>
          <a:prstGeom xmlns:a="http://schemas.openxmlformats.org/drawingml/2006/main" prst="line">
            <a:avLst/>
          </a:prstGeom>
          <a:noFill xmlns:a="http://schemas.openxmlformats.org/drawingml/2006/main"/>
          <a:ln xmlns:a="http://schemas.openxmlformats.org/drawingml/2006/main" w="19050">
            <a:solidFill>
              <a:srgbClr val="087F69"/>
            </a:solidFill>
          </a:ln>
        </p:spPr>
      </p:sp>
    </p:spTree>
    <p:extLst>
      <p:ext uri="{BB962C8B-B14F-4D97-AF65-F5344CB8AC3E}">
        <p14:creationId xmlns:p14="http://schemas.microsoft.com/office/powerpoint/2010/main" val="207946970"/>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CDE528A-5B0C-481B-BA5A-5D3C16A53C39}"/>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Feasibility: a working simulation foundation</a:t>
            </a:r>
          </a:p>
        </p:txBody>
      </p:sp>
      <p:sp>
        <p:nvSpPr>
          <p:cNvPr id="2" name="">
            <a:extLst xmlns:a="http://schemas.openxmlformats.org/drawingml/2006/main">
              <a:ext uri="{FF2B5EF4-FFF2-40B4-BE49-F238E27FC236}">
                <a16:creationId xmlns:a16="http://schemas.microsoft.com/office/drawing/2014/main" id="{D6CCF4D8-4549-43FC-ACB6-56A975C037DD}"/>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Existing software reduces build risk. The SME deployment remains the proposed next step</a:t>
            </a:r>
          </a:p>
        </p:txBody>
      </p:sp>
      <p:sp>
        <p:nvSpPr>
          <p:cNvPr id="3" name="">
            <a:extLst xmlns:a="http://schemas.openxmlformats.org/drawingml/2006/main">
              <a:ext uri="{FF2B5EF4-FFF2-40B4-BE49-F238E27FC236}">
                <a16:creationId xmlns:a16="http://schemas.microsoft.com/office/drawing/2014/main" id="{65DAB673-F3A1-4346-8F10-D297A35F8982}"/>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A88D7DA7-6BC7-413E-96F3-ACA882BD2377}"/>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1E427E90-582B-452A-ACB8-47F0730E7304}"/>
              </a:ext>
            </a:extLst>
          </p:cNvPr>
          <p:cNvSpPr>
            <a:spLocks xmlns:a="http://schemas.openxmlformats.org/drawingml/2006/main" noGrp="1"/>
          </p:cNvSpPr>
          <p:nvPr/>
        </p:nvSpPr>
        <p:spPr>
          <a:xfrm xmlns:a="http://schemas.openxmlformats.org/drawingml/2006/main">
            <a:off x="571500" y="2286000"/>
            <a:ext cx="3524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087F69"/>
                </a:solidFill>
                <a:latin typeface="Helvetica Neue"/>
                <a:ea typeface="Helvetica Neue"/>
                <a:cs typeface="Helvetica Neue"/>
              </a:defRPr>
            </a:pPr>
            <a:r>
              <a:rPr sz="6900" b="1">
                <a:solidFill>
                  <a:srgbClr val="087F69"/>
                </a:solidFill>
                <a:latin typeface="Helvetica Neue"/>
                <a:ea typeface="Helvetica Neue"/>
                <a:cs typeface="Helvetica Neue"/>
              </a:rPr>
              <a:t>216</a:t>
            </a:r>
          </a:p>
        </p:txBody>
      </p:sp>
      <p:sp>
        <p:nvSpPr>
          <p:cNvPr id="6" name="">
            <a:extLst xmlns:a="http://schemas.openxmlformats.org/drawingml/2006/main">
              <a:ext uri="{FF2B5EF4-FFF2-40B4-BE49-F238E27FC236}">
                <a16:creationId xmlns:a16="http://schemas.microsoft.com/office/drawing/2014/main" id="{EF0B3A6A-0773-42C2-A9CB-3BEBFCFAFA3B}"/>
              </a:ext>
            </a:extLst>
          </p:cNvPr>
          <p:cNvSpPr>
            <a:spLocks xmlns:a="http://schemas.openxmlformats.org/drawingml/2006/main" noGrp="1"/>
          </p:cNvSpPr>
          <p:nvPr/>
        </p:nvSpPr>
        <p:spPr>
          <a:xfrm xmlns:a="http://schemas.openxmlformats.org/drawingml/2006/main">
            <a:off x="619125" y="3476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E2B"/>
                </a:solidFill>
                <a:latin typeface="Helvetica Neue"/>
                <a:ea typeface="Helvetica Neue"/>
                <a:cs typeface="Helvetica Neue"/>
              </a:defRPr>
            </a:pPr>
            <a:r>
              <a:rPr sz="2100" b="0">
                <a:solidFill>
                  <a:srgbClr val="132E2B"/>
                </a:solidFill>
                <a:latin typeface="Helvetica Neue"/>
                <a:ea typeface="Helvetica Neue"/>
                <a:cs typeface="Helvetica Neue"/>
              </a:rPr>
              <a:t>passing local tests</a:t>
            </a:r>
          </a:p>
          <a:p xmlns:a="http://schemas.openxmlformats.org/drawingml/2006/main">
            <a:pPr>
              <a:defRPr sz="2100" b="0">
                <a:solidFill>
                  <a:srgbClr val="132E2B"/>
                </a:solidFill>
                <a:latin typeface="Helvetica Neue"/>
                <a:ea typeface="Helvetica Neue"/>
                <a:cs typeface="Helvetica Neue"/>
              </a:defRPr>
            </a:pPr>
            <a:r>
              <a:rPr sz="2100" b="0">
                <a:solidFill>
                  <a:srgbClr val="132E2B"/>
                </a:solidFill>
                <a:latin typeface="Helvetica Neue"/>
                <a:ea typeface="Helvetica Neue"/>
                <a:cs typeface="Helvetica Neue"/>
              </a:rPr>
              <a:t>A foundation for hackathon development</a:t>
            </a:r>
          </a:p>
        </p:txBody>
      </p:sp>
      <p:sp>
        <p:nvSpPr>
          <p:cNvPr id="7" name="">
            <a:extLst xmlns:a="http://schemas.openxmlformats.org/drawingml/2006/main">
              <a:ext uri="{FF2B5EF4-FFF2-40B4-BE49-F238E27FC236}">
                <a16:creationId xmlns:a16="http://schemas.microsoft.com/office/drawing/2014/main" id="{EE0E01EF-F7BE-4DDD-85F0-95EC4AC23E65}"/>
              </a:ext>
            </a:extLst>
          </p:cNvPr>
          <p:cNvSpPr>
            <a:spLocks xmlns:a="http://schemas.openxmlformats.org/drawingml/2006/main" noGrp="1"/>
          </p:cNvSpPr>
          <p:nvPr/>
        </p:nvSpPr>
        <p:spPr>
          <a:xfrm xmlns:a="http://schemas.openxmlformats.org/drawingml/2006/main">
            <a:off x="6429375" y="2286000"/>
            <a:ext cx="5048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32E2B"/>
                </a:solidFill>
                <a:latin typeface="Helvetica Neue"/>
                <a:ea typeface="Helvetica Neue"/>
                <a:cs typeface="Helvetica Neue"/>
              </a:defRPr>
            </a:pPr>
            <a:r>
              <a:rPr sz="2400" b="1">
                <a:solidFill>
                  <a:srgbClr val="132E2B"/>
                </a:solidFill>
                <a:latin typeface="Helvetica Neue"/>
                <a:ea typeface="Helvetica Neue"/>
                <a:cs typeface="Helvetica Neue"/>
              </a:rPr>
              <a:t>3,995 measurements</a:t>
            </a:r>
          </a:p>
          <a:p xmlns:a="http://schemas.openxmlformats.org/drawingml/2006/main">
            <a:pPr>
              <a:defRPr sz="2400" b="1">
                <a:solidFill>
                  <a:srgbClr val="132E2B"/>
                </a:solidFill>
                <a:latin typeface="Helvetica Neue"/>
                <a:ea typeface="Helvetica Neue"/>
                <a:cs typeface="Helvetica Neue"/>
              </a:defRPr>
            </a:pPr>
            <a:r>
              <a:rPr sz="2400" b="1">
                <a:solidFill>
                  <a:srgbClr val="132E2B"/>
                </a:solidFill>
                <a:latin typeface="Helvetica Neue"/>
                <a:ea typeface="Helvetica Neue"/>
                <a:cs typeface="Helvetica Neue"/>
              </a:rPr>
              <a:t>4,041 acknowledged events</a:t>
            </a:r>
          </a:p>
          <a:p xmlns:a="http://schemas.openxmlformats.org/drawingml/2006/main">
            <a:pPr>
              <a:defRPr sz="2400" b="1">
                <a:solidFill>
                  <a:srgbClr val="132E2B"/>
                </a:solidFill>
                <a:latin typeface="Helvetica Neue"/>
                <a:ea typeface="Helvetica Neue"/>
                <a:cs typeface="Helvetica Neue"/>
              </a:defRPr>
            </a:pPr>
            <a:r>
              <a:rPr sz="2400" b="1">
                <a:solidFill>
                  <a:srgbClr val="132E2B"/>
                </a:solidFill>
                <a:latin typeface="Helvetica Neue"/>
                <a:ea typeface="Helvetica Neue"/>
                <a:cs typeface="Helvetica Neue"/>
              </a:rPr>
              <a:t>0 pending events after reconnect</a:t>
            </a:r>
          </a:p>
        </p:txBody>
      </p:sp>
      <p:sp>
        <p:nvSpPr>
          <p:cNvPr id="8" name="">
            <a:extLst xmlns:a="http://schemas.openxmlformats.org/drawingml/2006/main">
              <a:ext uri="{FF2B5EF4-FFF2-40B4-BE49-F238E27FC236}">
                <a16:creationId xmlns:a16="http://schemas.microsoft.com/office/drawing/2014/main" id="{BFF1E5BA-48B9-4C82-9A23-F83115CBC841}"/>
              </a:ext>
            </a:extLst>
          </p:cNvPr>
          <p:cNvSpPr>
            <a:spLocks xmlns:a="http://schemas.openxmlformats.org/drawingml/2006/main" noGrp="1"/>
          </p:cNvSpPr>
          <p:nvPr/>
        </p:nvSpPr>
        <p:spPr>
          <a:xfrm xmlns:a="http://schemas.openxmlformats.org/drawingml/2006/main">
            <a:off x="571500" y="46291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69"/>
                </a:solidFill>
                <a:latin typeface="Helvetica Neue"/>
                <a:ea typeface="Helvetica Neue"/>
                <a:cs typeface="Helvetica Neue"/>
              </a:defRPr>
            </a:pPr>
            <a:r>
              <a:rPr sz="2100" b="1">
                <a:solidFill>
                  <a:srgbClr val="087F69"/>
                </a:solidFill>
                <a:latin typeface="Helvetica Neue"/>
                <a:ea typeface="Helvetica Neue"/>
                <a:cs typeface="Helvetica Neue"/>
              </a:rPr>
              <a:t>What we can demonstrate</a:t>
            </a:r>
          </a:p>
        </p:txBody>
      </p:sp>
      <p:sp>
        <p:nvSpPr>
          <p:cNvPr id="9" name="">
            <a:extLst xmlns:a="http://schemas.openxmlformats.org/drawingml/2006/main">
              <a:ext uri="{FF2B5EF4-FFF2-40B4-BE49-F238E27FC236}">
                <a16:creationId xmlns:a16="http://schemas.microsoft.com/office/drawing/2014/main" id="{28420C5A-6C70-44E0-8C67-64320869C59E}"/>
              </a:ext>
            </a:extLst>
          </p:cNvPr>
          <p:cNvSpPr>
            <a:spLocks xmlns:a="http://schemas.openxmlformats.org/drawingml/2006/main" noGrp="1"/>
          </p:cNvSpPr>
          <p:nvPr/>
        </p:nvSpPr>
        <p:spPr>
          <a:xfrm xmlns:a="http://schemas.openxmlformats.org/drawingml/2006/main">
            <a:off x="571500" y="5114925"/>
            <a:ext cx="1081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E2B"/>
                </a:solidFill>
                <a:latin typeface="Helvetica Neue"/>
                <a:ea typeface="Helvetica Neue"/>
                <a:cs typeface="Helvetica Neue"/>
              </a:defRPr>
            </a:pPr>
            <a:r>
              <a:rPr sz="2025" b="0">
                <a:solidFill>
                  <a:srgbClr val="132E2B"/>
                </a:solidFill>
                <a:latin typeface="Helvetica Neue"/>
                <a:ea typeface="Helvetica Neue"/>
                <a:cs typeface="Helvetica Neue"/>
              </a:rPr>
              <a:t>Normal demand, bad-data UNKNOWN, recovered peak, constrained proposal, explicit approval, simulated response, verification and cloud reconciliation.</a:t>
            </a:r>
          </a:p>
        </p:txBody>
      </p:sp>
    </p:spTree>
    <p:extLst>
      <p:ext uri="{BB962C8B-B14F-4D97-AF65-F5344CB8AC3E}">
        <p14:creationId xmlns:p14="http://schemas.microsoft.com/office/powerpoint/2010/main" val="1289524160"/>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FD5C7E-8ADD-4AFA-BA9E-F47D303F992F}"/>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Expected impact: 2% lower electricity SEC</a:t>
            </a:r>
          </a:p>
        </p:txBody>
      </p:sp>
      <p:sp>
        <p:nvSpPr>
          <p:cNvPr id="2" name="">
            <a:extLst xmlns:a="http://schemas.openxmlformats.org/drawingml/2006/main">
              <a:ext uri="{FF2B5EF4-FFF2-40B4-BE49-F238E27FC236}">
                <a16:creationId xmlns:a16="http://schemas.microsoft.com/office/drawing/2014/main" id="{56DD05C5-8B5D-4E3F-A62D-6E5611939A7D}"/>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Illustrative target at unchanged output and quality. Field validation follows the hackathon</a:t>
            </a:r>
          </a:p>
        </p:txBody>
      </p:sp>
      <p:sp>
        <p:nvSpPr>
          <p:cNvPr id="3" name="">
            <a:extLst xmlns:a="http://schemas.openxmlformats.org/drawingml/2006/main">
              <a:ext uri="{FF2B5EF4-FFF2-40B4-BE49-F238E27FC236}">
                <a16:creationId xmlns:a16="http://schemas.microsoft.com/office/drawing/2014/main" id="{EAC13FE1-2C28-427E-BF94-4ED69ACA2011}"/>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317B6405-5CD8-4ADD-A03A-9793C05EDE53}"/>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08</a:t>
            </a:r>
          </a:p>
        </p:txBody>
      </p:sp>
      <p:graphicFrame>
        <p:nvGraphicFramePr>
          <p:cNvPr id="14" name="Chart"/>
          <p:cNvGraphicFramePr/>
          <p:nvPr/>
        </p:nvGraphicFramePr>
        <p:xfrm>
          <a:off xmlns:a="http://schemas.openxmlformats.org/drawingml/2006/main" x="523875" y="2095500"/>
          <a:ext xmlns:a="http://schemas.openxmlformats.org/drawingml/2006/main" cx="5619750" cy="3429000"/>
        </p:xfrm>
        <a:graphic xmlns:a="http://schemas.openxmlformats.org/drawingml/2006/main">
          <a:graphicData uri="http://schemas.openxmlformats.org/drawingml/2006/chart">
            <c:chart xmlns:r="http://schemas.openxmlformats.org/officeDocument/2006/relationships" xmlns:c="http://schemas.openxmlformats.org/drawingml/2006/chart" r:id="Rd25805727fc54e6b"/>
          </a:graphicData>
        </a:graphic>
      </p:graphicFrame>
      <p:sp>
        <p:nvSpPr>
          <p:cNvPr id="6" name="">
            <a:extLst xmlns:a="http://schemas.openxmlformats.org/drawingml/2006/main">
              <a:ext uri="{FF2B5EF4-FFF2-40B4-BE49-F238E27FC236}">
                <a16:creationId xmlns:a16="http://schemas.microsoft.com/office/drawing/2014/main" id="{F4D1CFFB-6990-4AF7-9CDA-DD0E24D66621}"/>
              </a:ext>
            </a:extLst>
          </p:cNvPr>
          <p:cNvSpPr>
            <a:spLocks xmlns:a="http://schemas.openxmlformats.org/drawingml/2006/main" noGrp="1"/>
          </p:cNvSpPr>
          <p:nvPr/>
        </p:nvSpPr>
        <p:spPr>
          <a:xfrm xmlns:a="http://schemas.openxmlformats.org/drawingml/2006/main">
            <a:off x="666750" y="20478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E2B"/>
                </a:solidFill>
                <a:latin typeface="Helvetica Neue"/>
                <a:ea typeface="Helvetica Neue"/>
                <a:cs typeface="Helvetica Neue"/>
              </a:defRPr>
            </a:pPr>
            <a:r>
              <a:rPr sz="1650" b="0">
                <a:solidFill>
                  <a:srgbClr val="132E2B"/>
                </a:solidFill>
                <a:latin typeface="Helvetica Neue"/>
                <a:ea typeface="Helvetica Neue"/>
                <a:cs typeface="Helvetica Neue"/>
              </a:rPr>
              <a:t>kWh / good tonne</a:t>
            </a:r>
          </a:p>
        </p:txBody>
      </p:sp>
      <p:sp>
        <p:nvSpPr>
          <p:cNvPr id="7" name="">
            <a:extLst xmlns:a="http://schemas.openxmlformats.org/drawingml/2006/main">
              <a:ext uri="{FF2B5EF4-FFF2-40B4-BE49-F238E27FC236}">
                <a16:creationId xmlns:a16="http://schemas.microsoft.com/office/drawing/2014/main" id="{E63A6539-309E-4CF1-8DC3-6D31290AC625}"/>
              </a:ext>
            </a:extLst>
          </p:cNvPr>
          <p:cNvSpPr>
            <a:spLocks xmlns:a="http://schemas.openxmlformats.org/drawingml/2006/main" noGrp="1"/>
          </p:cNvSpPr>
          <p:nvPr/>
        </p:nvSpPr>
        <p:spPr>
          <a:xfrm xmlns:a="http://schemas.openxmlformats.org/drawingml/2006/main">
            <a:off x="6572250" y="228600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69"/>
                </a:solidFill>
                <a:latin typeface="Helvetica Neue"/>
                <a:ea typeface="Helvetica Neue"/>
                <a:cs typeface="Helvetica Neue"/>
              </a:defRPr>
            </a:pPr>
            <a:r>
              <a:rPr sz="2625" b="1">
                <a:solidFill>
                  <a:srgbClr val="087F69"/>
                </a:solidFill>
                <a:latin typeface="Helvetica Neue"/>
                <a:ea typeface="Helvetica Neue"/>
                <a:cs typeface="Helvetica Neue"/>
              </a:rPr>
              <a:t>2.0% lower electricity SEC</a:t>
            </a:r>
          </a:p>
        </p:txBody>
      </p:sp>
      <p:sp>
        <p:nvSpPr>
          <p:cNvPr id="8" name="">
            <a:extLst xmlns:a="http://schemas.openxmlformats.org/drawingml/2006/main">
              <a:ext uri="{FF2B5EF4-FFF2-40B4-BE49-F238E27FC236}">
                <a16:creationId xmlns:a16="http://schemas.microsoft.com/office/drawing/2014/main" id="{2D74AC4E-654B-4BC4-AF62-DACA5D77B179}"/>
              </a:ext>
            </a:extLst>
          </p:cNvPr>
          <p:cNvSpPr>
            <a:spLocks xmlns:a="http://schemas.openxmlformats.org/drawingml/2006/main" noGrp="1"/>
          </p:cNvSpPr>
          <p:nvPr/>
        </p:nvSpPr>
        <p:spPr>
          <a:xfrm xmlns:a="http://schemas.openxmlformats.org/drawingml/2006/main">
            <a:off x="6572250" y="3095625"/>
            <a:ext cx="4953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32E2B"/>
                </a:solidFill>
                <a:latin typeface="Helvetica Neue"/>
                <a:ea typeface="Helvetica Neue"/>
                <a:cs typeface="Helvetica Neue"/>
              </a:defRPr>
            </a:pPr>
            <a:r>
              <a:rPr sz="1950" b="0">
                <a:solidFill>
                  <a:srgbClr val="132E2B"/>
                </a:solidFill>
                <a:latin typeface="Helvetica Neue"/>
                <a:ea typeface="Helvetica Neue"/>
                <a:cs typeface="Helvetica Neue"/>
              </a:rPr>
              <a:t>100,000 to 98,000 kWh / month</a:t>
            </a:r>
          </a:p>
          <a:p xmlns:a="http://schemas.openxmlformats.org/drawingml/2006/main">
            <a:pPr>
              <a:defRPr sz="1950" b="0">
                <a:solidFill>
                  <a:srgbClr val="132E2B"/>
                </a:solidFill>
                <a:latin typeface="Helvetica Neue"/>
                <a:ea typeface="Helvetica Neue"/>
                <a:cs typeface="Helvetica Neue"/>
              </a:defRPr>
            </a:pPr>
            <a:r>
              <a:rPr sz="1950" b="0">
                <a:solidFill>
                  <a:srgbClr val="132E2B"/>
                </a:solidFill>
                <a:latin typeface="Helvetica Neue"/>
                <a:ea typeface="Helvetica Neue"/>
                <a:cs typeface="Helvetica Neue"/>
              </a:rPr>
              <a:t>100 good tonnes in both cases</a:t>
            </a:r>
          </a:p>
          <a:p xmlns:a="http://schemas.openxmlformats.org/drawingml/2006/main">
            <a:pPr>
              <a:defRPr sz="1950" b="0">
                <a:solidFill>
                  <a:srgbClr val="132E2B"/>
                </a:solidFill>
                <a:latin typeface="Helvetica Neue"/>
                <a:ea typeface="Helvetica Neue"/>
                <a:cs typeface="Helvetica Neue"/>
              </a:defRPr>
            </a:pPr>
            <a:r>
              <a:rPr sz="1950" b="0">
                <a:solidFill>
                  <a:srgbClr val="132E2B"/>
                </a:solidFill>
                <a:latin typeface="Helvetica Neue"/>
                <a:ea typeface="Helvetica Neue"/>
                <a:cs typeface="Helvetica Neue"/>
              </a:rPr>
              <a:t>Same product mix and working hours</a:t>
            </a:r>
          </a:p>
          <a:p xmlns:a="http://schemas.openxmlformats.org/drawingml/2006/main">
            <a:pPr>
              <a:defRPr sz="1950" b="0">
                <a:solidFill>
                  <a:srgbClr val="132E2B"/>
                </a:solidFill>
                <a:latin typeface="Helvetica Neue"/>
                <a:ea typeface="Helvetica Neue"/>
                <a:cs typeface="Helvetica Neue"/>
              </a:defRPr>
            </a:pPr>
            <a:r>
              <a:rPr sz="1950" b="0">
                <a:solidFill>
                  <a:srgbClr val="132E2B"/>
                </a:solidFill>
                <a:latin typeface="Helvetica Neue"/>
                <a:ea typeface="Helvetica Neue"/>
                <a:cs typeface="Helvetica Neue"/>
              </a:rPr>
              <a:t>Reject rate held at 3% in the model</a:t>
            </a:r>
          </a:p>
        </p:txBody>
      </p:sp>
      <p:sp>
        <p:nvSpPr>
          <p:cNvPr id="9" name="">
            <a:extLst xmlns:a="http://schemas.openxmlformats.org/drawingml/2006/main">
              <a:ext uri="{FF2B5EF4-FFF2-40B4-BE49-F238E27FC236}">
                <a16:creationId xmlns:a16="http://schemas.microsoft.com/office/drawing/2014/main" id="{535E92E0-87CB-4CC2-8435-EA17A083C938}"/>
              </a:ext>
            </a:extLst>
          </p:cNvPr>
          <p:cNvSpPr>
            <a:spLocks xmlns:a="http://schemas.openxmlformats.org/drawingml/2006/main" noGrp="1"/>
          </p:cNvSpPr>
          <p:nvPr/>
        </p:nvSpPr>
        <p:spPr>
          <a:xfrm xmlns:a="http://schemas.openxmlformats.org/drawingml/2006/main">
            <a:off x="571500" y="5676900"/>
            <a:ext cx="1100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Assumed mechanism: 10% less electricity on a 20,000 kWh/month auxiliary load.</a:t>
            </a:r>
          </a:p>
        </p:txBody>
      </p:sp>
    </p:spTree>
    <p:extLst>
      <p:ext uri="{BB962C8B-B14F-4D97-AF65-F5344CB8AC3E}">
        <p14:creationId xmlns:p14="http://schemas.microsoft.com/office/powerpoint/2010/main" val="200141206"/>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B4D01D-D4BF-4B7B-9424-B78438A0E3A8}"/>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Measurement plan and production safeguards</a:t>
            </a:r>
          </a:p>
        </p:txBody>
      </p:sp>
      <p:sp>
        <p:nvSpPr>
          <p:cNvPr id="2" name="">
            <a:extLst xmlns:a="http://schemas.openxmlformats.org/drawingml/2006/main">
              <a:ext uri="{FF2B5EF4-FFF2-40B4-BE49-F238E27FC236}">
                <a16:creationId xmlns:a16="http://schemas.microsoft.com/office/drawing/2014/main" id="{596A34B6-FDAC-4CDE-916A-7E7EE9DDE381}"/>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The field pilot must prove both energy improvement and preserved output</a:t>
            </a:r>
          </a:p>
        </p:txBody>
      </p:sp>
      <p:sp>
        <p:nvSpPr>
          <p:cNvPr id="3" name="">
            <a:extLst xmlns:a="http://schemas.openxmlformats.org/drawingml/2006/main">
              <a:ext uri="{FF2B5EF4-FFF2-40B4-BE49-F238E27FC236}">
                <a16:creationId xmlns:a16="http://schemas.microsoft.com/office/drawing/2014/main" id="{A3EC0B6A-A5A3-4D8E-8C3E-2B295D8A75DC}"/>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74FCE3CC-45D7-4869-B675-34C66626BD34}"/>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FCC7829D-39FA-49A6-B9FC-2CCC2F5B2A0B}"/>
              </a:ext>
            </a:extLst>
          </p:cNvPr>
          <p:cNvSpPr>
            <a:spLocks xmlns:a="http://schemas.openxmlformats.org/drawingml/2006/main" noGrp="1"/>
          </p:cNvSpPr>
          <p:nvPr/>
        </p:nvSpPr>
        <p:spPr>
          <a:xfrm xmlns:a="http://schemas.openxmlformats.org/drawingml/2006/main">
            <a:off x="571500" y="20955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Baseline: four representative weeks</a:t>
            </a:r>
          </a:p>
        </p:txBody>
      </p:sp>
      <p:sp>
        <p:nvSpPr>
          <p:cNvPr id="6" name="">
            <a:extLst xmlns:a="http://schemas.openxmlformats.org/drawingml/2006/main">
              <a:ext uri="{FF2B5EF4-FFF2-40B4-BE49-F238E27FC236}">
                <a16:creationId xmlns:a16="http://schemas.microsoft.com/office/drawing/2014/main" id="{C140A2A0-08DF-4A30-9F49-A0CFD98FBAAB}"/>
              </a:ext>
            </a:extLst>
          </p:cNvPr>
          <p:cNvSpPr>
            <a:spLocks xmlns:a="http://schemas.openxmlformats.org/drawingml/2006/main" noGrp="1"/>
          </p:cNvSpPr>
          <p:nvPr/>
        </p:nvSpPr>
        <p:spPr>
          <a:xfrm xmlns:a="http://schemas.openxmlformats.org/drawingml/2006/main">
            <a:off x="571500" y="2476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Reconcile main and auxiliary meters with bills. Record good tonnes, product mix, rejects and operating hours by shift.</a:t>
            </a:r>
          </a:p>
        </p:txBody>
      </p:sp>
      <p:sp>
        <p:nvSpPr>
          <p:cNvPr id="7" name="">
            <a:extLst xmlns:a="http://schemas.openxmlformats.org/drawingml/2006/main">
              <a:ext uri="{FF2B5EF4-FFF2-40B4-BE49-F238E27FC236}">
                <a16:creationId xmlns:a16="http://schemas.microsoft.com/office/drawing/2014/main" id="{C1CDD9BE-60A9-4172-BC4C-D0E9140B5EF2}"/>
              </a:ext>
            </a:extLst>
          </p:cNvPr>
          <p:cNvSpPr>
            <a:spLocks xmlns:a="http://schemas.openxmlformats.org/drawingml/2006/main" noGrp="1"/>
          </p:cNvSpPr>
          <p:nvPr/>
        </p:nvSpPr>
        <p:spPr>
          <a:xfrm xmlns:a="http://schemas.openxmlformats.org/drawingml/2006/main">
            <a:off x="571500" y="33337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Intervention: four matched weeks</a:t>
            </a:r>
          </a:p>
        </p:txBody>
      </p:sp>
      <p:sp>
        <p:nvSpPr>
          <p:cNvPr id="8" name="">
            <a:extLst xmlns:a="http://schemas.openxmlformats.org/drawingml/2006/main">
              <a:ext uri="{FF2B5EF4-FFF2-40B4-BE49-F238E27FC236}">
                <a16:creationId xmlns:a16="http://schemas.microsoft.com/office/drawing/2014/main" id="{7AE5EE1E-6D9E-44CE-9089-2A3A7FD313AE}"/>
              </a:ext>
            </a:extLst>
          </p:cNvPr>
          <p:cNvSpPr>
            <a:spLocks xmlns:a="http://schemas.openxmlformats.org/drawingml/2006/main" noGrp="1"/>
          </p:cNvSpPr>
          <p:nvPr/>
        </p:nvSpPr>
        <p:spPr>
          <a:xfrm xmlns:a="http://schemas.openxmlformats.org/drawingml/2006/main">
            <a:off x="571500" y="3714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Normalize for mix, output and operating conditions. Include rebound and all affected electricity within the boundary.</a:t>
            </a:r>
          </a:p>
        </p:txBody>
      </p:sp>
      <p:sp>
        <p:nvSpPr>
          <p:cNvPr id="9" name="">
            <a:extLst xmlns:a="http://schemas.openxmlformats.org/drawingml/2006/main">
              <a:ext uri="{FF2B5EF4-FFF2-40B4-BE49-F238E27FC236}">
                <a16:creationId xmlns:a16="http://schemas.microsoft.com/office/drawing/2014/main" id="{C419F8FC-5830-438A-9EC4-CBA5FFEF16BA}"/>
              </a:ext>
            </a:extLst>
          </p:cNvPr>
          <p:cNvSpPr>
            <a:spLocks xmlns:a="http://schemas.openxmlformats.org/drawingml/2006/main" noGrp="1"/>
          </p:cNvSpPr>
          <p:nvPr/>
        </p:nvSpPr>
        <p:spPr>
          <a:xfrm xmlns:a="http://schemas.openxmlformats.org/drawingml/2006/main">
            <a:off x="571500" y="45720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Acceptance and stop conditions</a:t>
            </a:r>
          </a:p>
        </p:txBody>
      </p:sp>
      <p:sp>
        <p:nvSpPr>
          <p:cNvPr id="10" name="">
            <a:extLst xmlns:a="http://schemas.openxmlformats.org/drawingml/2006/main">
              <a:ext uri="{FF2B5EF4-FFF2-40B4-BE49-F238E27FC236}">
                <a16:creationId xmlns:a16="http://schemas.microsoft.com/office/drawing/2014/main" id="{DDB761F8-189A-4EE9-9238-8F9AF45AD658}"/>
              </a:ext>
            </a:extLst>
          </p:cNvPr>
          <p:cNvSpPr>
            <a:spLocks xmlns:a="http://schemas.openxmlformats.org/drawingml/2006/main" noGrp="1"/>
          </p:cNvSpPr>
          <p:nvPr/>
        </p:nvSpPr>
        <p:spPr>
          <a:xfrm xmlns:a="http://schemas.openxmlformats.org/drawingml/2006/main">
            <a:off x="571500" y="4953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Claim improvement only above measurement uncertainty. Require no matched throughput loss or reject-rate increase. Stop on pressure, quality or process alarms.</a:t>
            </a:r>
          </a:p>
        </p:txBody>
      </p:sp>
    </p:spTree>
    <p:extLst>
      <p:ext uri="{BB962C8B-B14F-4D97-AF65-F5344CB8AC3E}">
        <p14:creationId xmlns:p14="http://schemas.microsoft.com/office/powerpoint/2010/main" val="928076512"/>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A9A1EB-71E4-41F2-A966-5190682DE738}"/>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Deployment and installation budget</a:t>
            </a:r>
          </a:p>
        </p:txBody>
      </p:sp>
      <p:sp>
        <p:nvSpPr>
          <p:cNvPr id="2" name="">
            <a:extLst xmlns:a="http://schemas.openxmlformats.org/drawingml/2006/main">
              <a:ext uri="{FF2B5EF4-FFF2-40B4-BE49-F238E27FC236}">
                <a16:creationId xmlns:a16="http://schemas.microsoft.com/office/drawing/2014/main" id="{1F5FB2E6-9451-476E-A0FF-BF249E307E9E}"/>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Planning estimate for one site. Supplier quotations and a site survey are still required</a:t>
            </a:r>
          </a:p>
        </p:txBody>
      </p:sp>
      <p:sp>
        <p:nvSpPr>
          <p:cNvPr id="3" name="">
            <a:extLst xmlns:a="http://schemas.openxmlformats.org/drawingml/2006/main">
              <a:ext uri="{FF2B5EF4-FFF2-40B4-BE49-F238E27FC236}">
                <a16:creationId xmlns:a16="http://schemas.microsoft.com/office/drawing/2014/main" id="{9E915796-075E-4291-8433-7D4E73DA42CA}"/>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BA9BE8D8-ECA6-4148-8826-8736B1DE38E6}"/>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571500" y="2124075"/>
          <a:ext xmlns:a="http://schemas.openxmlformats.org/drawingml/2006/main" cx="5810250" cy="3571875"/>
        </p:xfrm>
        <a:graphic xmlns:a="http://schemas.openxmlformats.org/drawingml/2006/main">
          <a:graphicData uri="http://schemas.openxmlformats.org/drawingml/2006/table">
            <a:tbl>
              <a:tblPr/>
              <a:tblGrid>
                <a:gridCol w="4286250"/>
                <a:gridCol w="1524000"/>
              </a:tblGrid>
              <a:tr h="510268">
                <a:tc>
                  <a:txBody>
                    <a:bodyPr/>
                    <a:lstStyle/>
                    <a:p>
                      <a:r>
                        <a:rPr sz="1650" b="1">
                          <a:solidFill>
                            <a:srgbClr val="FFFFFF"/>
                          </a:solidFill>
                          <a:latin typeface="Helvetica Neue"/>
                          <a:ea typeface="Helvetica Neue"/>
                          <a:cs typeface="Helvetica Neue"/>
                        </a:rPr>
                        <a:t>One-time item</a:t>
                      </a:r>
                    </a:p>
                  </a:txBody>
                  <a:tcPr marL="91440" marR="91440" marT="45720" marB="45720">
                    <a:solidFill>
                      <a:srgbClr val="102C29"/>
                    </a:solidFill>
                  </a:tcPr>
                </a:tc>
                <a:tc>
                  <a:txBody>
                    <a:bodyPr/>
                    <a:lstStyle/>
                    <a:p>
                      <a:r>
                        <a:rPr sz="1650" b="1">
                          <a:solidFill>
                            <a:srgbClr val="FFFFFF"/>
                          </a:solidFill>
                          <a:latin typeface="Helvetica Neue"/>
                          <a:ea typeface="Helvetica Neue"/>
                          <a:cs typeface="Helvetica Neue"/>
                        </a:rPr>
                        <a:t>INR</a:t>
                      </a:r>
                    </a:p>
                  </a:txBody>
                  <a:tcPr marL="91440" marR="91440" marT="45720" marB="45720">
                    <a:solidFill>
                      <a:srgbClr val="102C29"/>
                    </a:solidFill>
                  </a:tcPr>
                </a:tc>
              </a:tr>
              <a:tr h="510268">
                <a:tc>
                  <a:txBody>
                    <a:bodyPr/>
                    <a:lstStyle/>
                    <a:p>
                      <a:r>
                        <a:rPr sz="1650" b="0">
                          <a:solidFill>
                            <a:srgbClr val="132E2B"/>
                          </a:solidFill>
                          <a:latin typeface="Helvetica Neue"/>
                          <a:ea typeface="Helvetica Neue"/>
                          <a:cs typeface="Helvetica Neue"/>
                        </a:rPr>
                        <a:t>Meters and current transformers</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45,000</a:t>
                      </a:r>
                    </a:p>
                  </a:txBody>
                  <a:tcPr marL="91440" marR="91440" marT="45720" marB="45720">
                    <a:solidFill>
                      <a:srgbClr val="FFFFFF"/>
                    </a:solidFill>
                  </a:tcPr>
                </a:tc>
              </a:tr>
              <a:tr h="510268">
                <a:tc>
                  <a:txBody>
                    <a:bodyPr/>
                    <a:lstStyle/>
                    <a:p>
                      <a:r>
                        <a:rPr sz="1650" b="0">
                          <a:solidFill>
                            <a:srgbClr val="132E2B"/>
                          </a:solidFill>
                          <a:latin typeface="Helvetica Neue"/>
                          <a:ea typeface="Helvetica Neue"/>
                          <a:cs typeface="Helvetica Neue"/>
                        </a:rPr>
                        <a:t>Gateway / local compute</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20,000</a:t>
                      </a:r>
                    </a:p>
                  </a:txBody>
                  <a:tcPr marL="91440" marR="91440" marT="45720" marB="45720">
                    <a:solidFill>
                      <a:srgbClr val="E4EEE8"/>
                    </a:solidFill>
                  </a:tcPr>
                </a:tc>
              </a:tr>
              <a:tr h="510268">
                <a:tc>
                  <a:txBody>
                    <a:bodyPr/>
                    <a:lstStyle/>
                    <a:p>
                      <a:r>
                        <a:rPr sz="1650" b="0">
                          <a:solidFill>
                            <a:srgbClr val="132E2B"/>
                          </a:solidFill>
                          <a:latin typeface="Helvetica Neue"/>
                          <a:ea typeface="Helvetica Neue"/>
                          <a:cs typeface="Helvetica Neue"/>
                        </a:rPr>
                        <a:t>Wiring and installation</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20,000</a:t>
                      </a:r>
                    </a:p>
                  </a:txBody>
                  <a:tcPr marL="91440" marR="91440" marT="45720" marB="45720">
                    <a:solidFill>
                      <a:srgbClr val="FFFFFF"/>
                    </a:solidFill>
                  </a:tcPr>
                </a:tc>
              </a:tr>
              <a:tr h="510268">
                <a:tc>
                  <a:txBody>
                    <a:bodyPr/>
                    <a:lstStyle/>
                    <a:p>
                      <a:r>
                        <a:rPr sz="1650" b="0">
                          <a:solidFill>
                            <a:srgbClr val="132E2B"/>
                          </a:solidFill>
                          <a:latin typeface="Helvetica Neue"/>
                          <a:ea typeface="Helvetica Neue"/>
                          <a:cs typeface="Helvetica Neue"/>
                        </a:rPr>
                        <a:t>Commissioning and mapping</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25,000</a:t>
                      </a:r>
                    </a:p>
                  </a:txBody>
                  <a:tcPr marL="91440" marR="91440" marT="45720" marB="45720">
                    <a:solidFill>
                      <a:srgbClr val="E4EEE8"/>
                    </a:solidFill>
                  </a:tcPr>
                </a:tc>
              </a:tr>
              <a:tr h="510268">
                <a:tc>
                  <a:txBody>
                    <a:bodyPr/>
                    <a:lstStyle/>
                    <a:p>
                      <a:r>
                        <a:rPr sz="1650" b="0">
                          <a:solidFill>
                            <a:srgbClr val="132E2B"/>
                          </a:solidFill>
                          <a:latin typeface="Helvetica Neue"/>
                          <a:ea typeface="Helvetica Neue"/>
                          <a:cs typeface="Helvetica Neue"/>
                        </a:rPr>
                        <a:t>Training and contingency</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10,000</a:t>
                      </a:r>
                    </a:p>
                  </a:txBody>
                  <a:tcPr marL="91440" marR="91440" marT="45720" marB="45720">
                    <a:solidFill>
                      <a:srgbClr val="FFFFFF"/>
                    </a:solidFill>
                  </a:tcPr>
                </a:tc>
              </a:tr>
              <a:tr h="510268">
                <a:tc>
                  <a:txBody>
                    <a:bodyPr/>
                    <a:lstStyle/>
                    <a:p>
                      <a:r>
                        <a:rPr sz="1650" b="0">
                          <a:solidFill>
                            <a:srgbClr val="132E2B"/>
                          </a:solidFill>
                          <a:latin typeface="Helvetica Neue"/>
                          <a:ea typeface="Helvetica Neue"/>
                          <a:cs typeface="Helvetica Neue"/>
                        </a:rPr>
                        <a:t>Total installation</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1,20,000</a:t>
                      </a:r>
                    </a:p>
                  </a:txBody>
                  <a:tcPr marL="91440" marR="91440" marT="45720" marB="45720">
                    <a:solidFill>
                      <a:srgbClr val="E4EEE8"/>
                    </a:solidFill>
                  </a:tcPr>
                </a:tc>
              </a:tr>
            </a:tbl>
          </a:graphicData>
        </a:graphic>
      </p:graphicFrame>
      <p:sp>
        <p:nvSpPr>
          <p:cNvPr id="6" name="">
            <a:extLst xmlns:a="http://schemas.openxmlformats.org/drawingml/2006/main">
              <a:ext uri="{FF2B5EF4-FFF2-40B4-BE49-F238E27FC236}">
                <a16:creationId xmlns:a16="http://schemas.microsoft.com/office/drawing/2014/main" id="{72F4B014-A9B5-4666-B39E-2E53E7BDA234}"/>
              </a:ext>
            </a:extLst>
          </p:cNvPr>
          <p:cNvSpPr>
            <a:spLocks xmlns:a="http://schemas.openxmlformats.org/drawingml/2006/main" noGrp="1"/>
          </p:cNvSpPr>
          <p:nvPr/>
        </p:nvSpPr>
        <p:spPr>
          <a:xfrm xmlns:a="http://schemas.openxmlformats.org/drawingml/2006/main">
            <a:off x="7096125" y="21526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69"/>
                </a:solidFill>
                <a:latin typeface="Helvetica Neue"/>
                <a:ea typeface="Helvetica Neue"/>
                <a:cs typeface="Helvetica Neue"/>
              </a:defRPr>
            </a:pPr>
            <a:r>
              <a:rPr sz="2175" b="1">
                <a:solidFill>
                  <a:srgbClr val="087F69"/>
                </a:solidFill>
                <a:latin typeface="Helvetica Neue"/>
                <a:ea typeface="Helvetica Neue"/>
                <a:cs typeface="Helvetica Neue"/>
              </a:rPr>
              <a:t>Deployment sequence</a:t>
            </a:r>
          </a:p>
        </p:txBody>
      </p:sp>
      <p:sp>
        <p:nvSpPr>
          <p:cNvPr id="7" name="">
            <a:extLst xmlns:a="http://schemas.openxmlformats.org/drawingml/2006/main">
              <a:ext uri="{FF2B5EF4-FFF2-40B4-BE49-F238E27FC236}">
                <a16:creationId xmlns:a16="http://schemas.microsoft.com/office/drawing/2014/main" id="{7075B61E-B17D-48DF-89C0-9C1921771145}"/>
              </a:ext>
            </a:extLst>
          </p:cNvPr>
          <p:cNvSpPr>
            <a:spLocks xmlns:a="http://schemas.openxmlformats.org/drawingml/2006/main" noGrp="1"/>
          </p:cNvSpPr>
          <p:nvPr/>
        </p:nvSpPr>
        <p:spPr>
          <a:xfrm xmlns:a="http://schemas.openxmlformats.org/drawingml/2006/main">
            <a:off x="7096125" y="2771775"/>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32E2B"/>
                </a:solidFill>
                <a:latin typeface="Helvetica Neue"/>
                <a:ea typeface="Helvetica Neue"/>
                <a:cs typeface="Helvetica Neue"/>
              </a:defRPr>
            </a:pPr>
            <a:r>
              <a:rPr sz="1950" b="0">
                <a:solidFill>
                  <a:srgbClr val="132E2B"/>
                </a:solidFill>
                <a:latin typeface="Helvetica Neue"/>
                <a:ea typeface="Helvetica Neue"/>
                <a:cs typeface="Helvetica Neue"/>
              </a:rPr>
              <a:t>Survey and meter mapping</a:t>
            </a:r>
          </a:p>
          <a:p xmlns:a="http://schemas.openxmlformats.org/drawingml/2006/main">
            <a:r>
              <a:t/>
            </a:r>
          </a:p>
          <a:p xmlns:a="http://schemas.openxmlformats.org/drawingml/2006/main">
            <a:pPr>
              <a:defRPr sz="1950" b="0">
                <a:solidFill>
                  <a:srgbClr val="132E2B"/>
                </a:solidFill>
                <a:latin typeface="Helvetica Neue"/>
                <a:ea typeface="Helvetica Neue"/>
                <a:cs typeface="Helvetica Neue"/>
              </a:defRPr>
            </a:pPr>
            <a:r>
              <a:rPr sz="1950" b="0">
                <a:solidFill>
                  <a:srgbClr val="132E2B"/>
                </a:solidFill>
                <a:latin typeface="Helvetica Neue"/>
                <a:ea typeface="Helvetica Neue"/>
                <a:cs typeface="Helvetica Neue"/>
              </a:rPr>
              <a:t>Read-only baseline collection</a:t>
            </a:r>
          </a:p>
          <a:p xmlns:a="http://schemas.openxmlformats.org/drawingml/2006/main">
            <a:r>
              <a:t/>
            </a:r>
          </a:p>
          <a:p xmlns:a="http://schemas.openxmlformats.org/drawingml/2006/main">
            <a:pPr>
              <a:defRPr sz="1950" b="0">
                <a:solidFill>
                  <a:srgbClr val="132E2B"/>
                </a:solidFill>
                <a:latin typeface="Helvetica Neue"/>
                <a:ea typeface="Helvetica Neue"/>
                <a:cs typeface="Helvetica Neue"/>
              </a:defRPr>
            </a:pPr>
            <a:r>
              <a:rPr sz="1950" b="0">
                <a:solidFill>
                  <a:srgbClr val="132E2B"/>
                </a:solidFill>
                <a:latin typeface="Helvetica Neue"/>
                <a:ea typeface="Helvetica Neue"/>
                <a:cs typeface="Helvetica Neue"/>
              </a:rPr>
              <a:t>Operator-guided auxiliary changes</a:t>
            </a:r>
          </a:p>
          <a:p xmlns:a="http://schemas.openxmlformats.org/drawingml/2006/main">
            <a:r>
              <a:t/>
            </a:r>
          </a:p>
          <a:p xmlns:a="http://schemas.openxmlformats.org/drawingml/2006/main">
            <a:pPr>
              <a:defRPr sz="1950" b="0">
                <a:solidFill>
                  <a:srgbClr val="132E2B"/>
                </a:solidFill>
                <a:latin typeface="Helvetica Neue"/>
                <a:ea typeface="Helvetica Neue"/>
                <a:cs typeface="Helvetica Neue"/>
              </a:defRPr>
            </a:pPr>
            <a:r>
              <a:rPr sz="1950" b="0">
                <a:solidFill>
                  <a:srgbClr val="132E2B"/>
                </a:solidFill>
                <a:latin typeface="Helvetica Neue"/>
                <a:ea typeface="Helvetica Neue"/>
                <a:cs typeface="Helvetica Neue"/>
              </a:rPr>
              <a:t>Independent outcome review</a:t>
            </a:r>
          </a:p>
        </p:txBody>
      </p:sp>
      <p:sp>
        <p:nvSpPr>
          <p:cNvPr id="8" name="">
            <a:extLst xmlns:a="http://schemas.openxmlformats.org/drawingml/2006/main">
              <a:ext uri="{FF2B5EF4-FFF2-40B4-BE49-F238E27FC236}">
                <a16:creationId xmlns:a16="http://schemas.microsoft.com/office/drawing/2014/main" id="{E6B60FFB-A4A1-44A0-8731-F1F6DD2689B1}"/>
              </a:ext>
            </a:extLst>
          </p:cNvPr>
          <p:cNvSpPr>
            <a:spLocks xmlns:a="http://schemas.openxmlformats.org/drawingml/2006/main" noGrp="1"/>
          </p:cNvSpPr>
          <p:nvPr/>
        </p:nvSpPr>
        <p:spPr>
          <a:xfrm xmlns:a="http://schemas.openxmlformats.org/drawingml/2006/main">
            <a:off x="571500" y="58674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E2B"/>
                </a:solidFill>
                <a:latin typeface="Helvetica Neue"/>
                <a:ea typeface="Helvetica Neue"/>
                <a:cs typeface="Helvetica Neue"/>
              </a:defRPr>
            </a:pPr>
            <a:r>
              <a:rPr sz="1650" b="0">
                <a:solidFill>
                  <a:srgbClr val="132E2B"/>
                </a:solidFill>
                <a:latin typeface="Helvetica Neue"/>
                <a:ea typeface="Helvetica Neue"/>
                <a:cs typeface="Helvetica Neue"/>
              </a:rPr>
              <a:t>Reuse existing compatible meters where possible. No new hardware build is needed for this submission.</a:t>
            </a:r>
          </a:p>
        </p:txBody>
      </p:sp>
    </p:spTree>
    <p:extLst>
      <p:ext uri="{BB962C8B-B14F-4D97-AF65-F5344CB8AC3E}">
        <p14:creationId xmlns:p14="http://schemas.microsoft.com/office/powerpoint/2010/main" val="1248924653"/>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4324B4-7A7C-4EC4-A694-0131161ED7B8}"/>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Business model and payback sensitivity</a:t>
            </a:r>
          </a:p>
        </p:txBody>
      </p:sp>
      <p:sp>
        <p:nvSpPr>
          <p:cNvPr id="2" name="">
            <a:extLst xmlns:a="http://schemas.openxmlformats.org/drawingml/2006/main">
              <a:ext uri="{FF2B5EF4-FFF2-40B4-BE49-F238E27FC236}">
                <a16:creationId xmlns:a16="http://schemas.microsoft.com/office/drawing/2014/main" id="{62BDE4BE-9863-4130-8F86-94A0FFAD0220}"/>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Proposed monitoring installation plus INR 3,000/month software and support</a:t>
            </a:r>
          </a:p>
        </p:txBody>
      </p:sp>
      <p:sp>
        <p:nvSpPr>
          <p:cNvPr id="3" name="">
            <a:extLst xmlns:a="http://schemas.openxmlformats.org/drawingml/2006/main">
              <a:ext uri="{FF2B5EF4-FFF2-40B4-BE49-F238E27FC236}">
                <a16:creationId xmlns:a16="http://schemas.microsoft.com/office/drawing/2014/main" id="{4CE87443-D4BD-4E05-BAAE-9D2E95376D44}"/>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CFE109C6-4519-45B2-92B1-674C95AA9DA4}"/>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571500" y="2143125"/>
          <a:ext xmlns:a="http://schemas.openxmlformats.org/drawingml/2006/main" cx="11001375" cy="3238500"/>
        </p:xfrm>
        <a:graphic xmlns:a="http://schemas.openxmlformats.org/drawingml/2006/main">
          <a:graphicData uri="http://schemas.openxmlformats.org/drawingml/2006/table">
            <a:tbl>
              <a:tblPr/>
              <a:tblGrid>
                <a:gridCol w="4857750"/>
                <a:gridCol w="2047875"/>
                <a:gridCol w="2047875"/>
                <a:gridCol w="2047875"/>
              </a:tblGrid>
              <a:tr h="539750">
                <a:tc>
                  <a:txBody>
                    <a:bodyPr/>
                    <a:lstStyle/>
                    <a:p>
                      <a:r>
                        <a:rPr sz="1650" b="1">
                          <a:solidFill>
                            <a:srgbClr val="FFFFFF"/>
                          </a:solidFill>
                          <a:latin typeface="Helvetica Neue"/>
                          <a:ea typeface="Helvetica Neue"/>
                          <a:cs typeface="Helvetica Neue"/>
                        </a:rPr>
                        <a:t>Assumption / outcome</a:t>
                      </a:r>
                    </a:p>
                  </a:txBody>
                  <a:tcPr marL="91440" marR="91440" marT="45720" marB="45720">
                    <a:solidFill>
                      <a:srgbClr val="102C29"/>
                    </a:solidFill>
                  </a:tcPr>
                </a:tc>
                <a:tc>
                  <a:txBody>
                    <a:bodyPr/>
                    <a:lstStyle/>
                    <a:p>
                      <a:r>
                        <a:rPr sz="1650" b="1">
                          <a:solidFill>
                            <a:srgbClr val="FFFFFF"/>
                          </a:solidFill>
                          <a:latin typeface="Helvetica Neue"/>
                          <a:ea typeface="Helvetica Neue"/>
                          <a:cs typeface="Helvetica Neue"/>
                        </a:rPr>
                        <a:t>Low</a:t>
                      </a:r>
                    </a:p>
                  </a:txBody>
                  <a:tcPr marL="91440" marR="91440" marT="45720" marB="45720">
                    <a:solidFill>
                      <a:srgbClr val="102C29"/>
                    </a:solidFill>
                  </a:tcPr>
                </a:tc>
                <a:tc>
                  <a:txBody>
                    <a:bodyPr/>
                    <a:lstStyle/>
                    <a:p>
                      <a:r>
                        <a:rPr sz="1650" b="1">
                          <a:solidFill>
                            <a:srgbClr val="FFFFFF"/>
                          </a:solidFill>
                          <a:latin typeface="Helvetica Neue"/>
                          <a:ea typeface="Helvetica Neue"/>
                          <a:cs typeface="Helvetica Neue"/>
                        </a:rPr>
                        <a:t>Base</a:t>
                      </a:r>
                    </a:p>
                  </a:txBody>
                  <a:tcPr marL="91440" marR="91440" marT="45720" marB="45720">
                    <a:solidFill>
                      <a:srgbClr val="102C29"/>
                    </a:solidFill>
                  </a:tcPr>
                </a:tc>
                <a:tc>
                  <a:txBody>
                    <a:bodyPr/>
                    <a:lstStyle/>
                    <a:p>
                      <a:r>
                        <a:rPr sz="1650" b="1">
                          <a:solidFill>
                            <a:srgbClr val="FFFFFF"/>
                          </a:solidFill>
                          <a:latin typeface="Helvetica Neue"/>
                          <a:ea typeface="Helvetica Neue"/>
                          <a:cs typeface="Helvetica Neue"/>
                        </a:rPr>
                        <a:t>High</a:t>
                      </a:r>
                    </a:p>
                  </a:txBody>
                  <a:tcPr marL="91440" marR="91440" marT="45720" marB="45720">
                    <a:solidFill>
                      <a:srgbClr val="102C29"/>
                    </a:solidFill>
                  </a:tcPr>
                </a:tc>
              </a:tr>
              <a:tr h="539750">
                <a:tc>
                  <a:txBody>
                    <a:bodyPr/>
                    <a:lstStyle/>
                    <a:p>
                      <a:r>
                        <a:rPr sz="1650" b="0">
                          <a:solidFill>
                            <a:srgbClr val="132E2B"/>
                          </a:solidFill>
                          <a:latin typeface="Helvetica Neue"/>
                          <a:ea typeface="Helvetica Neue"/>
                          <a:cs typeface="Helvetica Neue"/>
                        </a:rPr>
                        <a:t>Auxiliary energy reduction</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5%</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10%</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15%</a:t>
                      </a:r>
                    </a:p>
                  </a:txBody>
                  <a:tcPr marL="91440" marR="91440" marT="45720" marB="45720">
                    <a:solidFill>
                      <a:srgbClr val="FFFFFF"/>
                    </a:solidFill>
                  </a:tcPr>
                </a:tc>
              </a:tr>
              <a:tr h="539750">
                <a:tc>
                  <a:txBody>
                    <a:bodyPr/>
                    <a:lstStyle/>
                    <a:p>
                      <a:r>
                        <a:rPr sz="1650" b="0">
                          <a:solidFill>
                            <a:srgbClr val="132E2B"/>
                          </a:solidFill>
                          <a:latin typeface="Helvetica Neue"/>
                          <a:ea typeface="Helvetica Neue"/>
                          <a:cs typeface="Helvetica Neue"/>
                        </a:rPr>
                        <a:t>Saved electricity (kWh/month)</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1,000</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2,000</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3,000</a:t>
                      </a:r>
                    </a:p>
                  </a:txBody>
                  <a:tcPr marL="91440" marR="91440" marT="45720" marB="45720">
                    <a:solidFill>
                      <a:srgbClr val="E4EEE8"/>
                    </a:solidFill>
                  </a:tcPr>
                </a:tc>
              </a:tr>
              <a:tr h="539750">
                <a:tc>
                  <a:txBody>
                    <a:bodyPr/>
                    <a:lstStyle/>
                    <a:p>
                      <a:r>
                        <a:rPr sz="1650" b="0">
                          <a:solidFill>
                            <a:srgbClr val="132E2B"/>
                          </a:solidFill>
                          <a:latin typeface="Helvetica Neue"/>
                          <a:ea typeface="Helvetica Neue"/>
                          <a:cs typeface="Helvetica Neue"/>
                        </a:rPr>
                        <a:t>Gross value at INR 8/kWh</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8,000</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16,000</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24,000</a:t>
                      </a:r>
                    </a:p>
                  </a:txBody>
                  <a:tcPr marL="91440" marR="91440" marT="45720" marB="45720">
                    <a:solidFill>
                      <a:srgbClr val="FFFFFF"/>
                    </a:solidFill>
                  </a:tcPr>
                </a:tc>
              </a:tr>
              <a:tr h="539750">
                <a:tc>
                  <a:txBody>
                    <a:bodyPr/>
                    <a:lstStyle/>
                    <a:p>
                      <a:r>
                        <a:rPr sz="1650" b="0">
                          <a:solidFill>
                            <a:srgbClr val="132E2B"/>
                          </a:solidFill>
                          <a:latin typeface="Helvetica Neue"/>
                          <a:ea typeface="Helvetica Neue"/>
                          <a:cs typeface="Helvetica Neue"/>
                        </a:rPr>
                        <a:t>Net after INR 4,000/month</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4,000</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12,000</a:t>
                      </a:r>
                    </a:p>
                  </a:txBody>
                  <a:tcPr marL="91440" marR="91440" marT="45720" marB="45720">
                    <a:solidFill>
                      <a:srgbClr val="E4EEE8"/>
                    </a:solidFill>
                  </a:tcPr>
                </a:tc>
                <a:tc>
                  <a:txBody>
                    <a:bodyPr/>
                    <a:lstStyle/>
                    <a:p>
                      <a:r>
                        <a:rPr sz="1650" b="0">
                          <a:solidFill>
                            <a:srgbClr val="132E2B"/>
                          </a:solidFill>
                          <a:latin typeface="Helvetica Neue"/>
                          <a:ea typeface="Helvetica Neue"/>
                          <a:cs typeface="Helvetica Neue"/>
                        </a:rPr>
                        <a:t>20,000</a:t>
                      </a:r>
                    </a:p>
                  </a:txBody>
                  <a:tcPr marL="91440" marR="91440" marT="45720" marB="45720">
                    <a:solidFill>
                      <a:srgbClr val="E4EEE8"/>
                    </a:solidFill>
                  </a:tcPr>
                </a:tc>
              </a:tr>
              <a:tr h="539750">
                <a:tc>
                  <a:txBody>
                    <a:bodyPr/>
                    <a:lstStyle/>
                    <a:p>
                      <a:r>
                        <a:rPr sz="1650" b="0">
                          <a:solidFill>
                            <a:srgbClr val="132E2B"/>
                          </a:solidFill>
                          <a:latin typeface="Helvetica Neue"/>
                          <a:ea typeface="Helvetica Neue"/>
                          <a:cs typeface="Helvetica Neue"/>
                        </a:rPr>
                        <a:t>Simple payback (months)</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30</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10</a:t>
                      </a:r>
                    </a:p>
                  </a:txBody>
                  <a:tcPr marL="91440" marR="91440" marT="45720" marB="45720">
                    <a:solidFill>
                      <a:srgbClr val="FFFFFF"/>
                    </a:solidFill>
                  </a:tcPr>
                </a:tc>
                <a:tc>
                  <a:txBody>
                    <a:bodyPr/>
                    <a:lstStyle/>
                    <a:p>
                      <a:r>
                        <a:rPr sz="1650" b="0">
                          <a:solidFill>
                            <a:srgbClr val="132E2B"/>
                          </a:solidFill>
                          <a:latin typeface="Helvetica Neue"/>
                          <a:ea typeface="Helvetica Neue"/>
                          <a:cs typeface="Helvetica Neue"/>
                        </a:rPr>
                        <a:t>6</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72AE438-03D5-4794-A9E7-E6B65A73E655}"/>
              </a:ext>
            </a:extLst>
          </p:cNvPr>
          <p:cNvSpPr>
            <a:spLocks xmlns:a="http://schemas.openxmlformats.org/drawingml/2006/main" noGrp="1"/>
          </p:cNvSpPr>
          <p:nvPr/>
        </p:nvSpPr>
        <p:spPr>
          <a:xfrm xmlns:a="http://schemas.openxmlformats.org/drawingml/2006/main">
            <a:off x="571500" y="56483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E2B"/>
                </a:solidFill>
                <a:latin typeface="Helvetica Neue"/>
                <a:ea typeface="Helvetica Neue"/>
                <a:cs typeface="Helvetica Neue"/>
              </a:defRPr>
            </a:pPr>
            <a:r>
              <a:rPr sz="1875" b="0">
                <a:solidFill>
                  <a:srgbClr val="132E2B"/>
                </a:solidFill>
                <a:latin typeface="Helvetica Neue"/>
                <a:ea typeface="Helvetica Neue"/>
                <a:cs typeface="Helvetica Neue"/>
              </a:rPr>
              <a:t>Customer route: one partner foundry, then a small cluster through auditors and local integrators.</a:t>
            </a:r>
          </a:p>
        </p:txBody>
      </p:sp>
    </p:spTree>
    <p:extLst>
      <p:ext uri="{BB962C8B-B14F-4D97-AF65-F5344CB8AC3E}">
        <p14:creationId xmlns:p14="http://schemas.microsoft.com/office/powerpoint/2010/main" val="160875497"/>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82D1FB-83DC-4C67-9BBE-C9C9ED774DA2}"/>
              </a:ext>
            </a:extLst>
          </p:cNvPr>
          <p:cNvSpPr>
            <a:spLocks xmlns:a="http://schemas.openxmlformats.org/drawingml/2006/main" noGrp="1"/>
          </p:cNvSpPr>
          <p:nvPr/>
        </p:nvSpPr>
        <p:spPr>
          <a:xfrm xmlns:a="http://schemas.openxmlformats.org/drawingml/2006/main">
            <a:off x="552450" y="4191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2B"/>
                </a:solidFill>
                <a:latin typeface="Helvetica Neue"/>
                <a:ea typeface="Helvetica Neue"/>
                <a:cs typeface="Helvetica Neue"/>
              </a:defRPr>
            </a:pPr>
            <a:r>
              <a:rPr sz="3150" b="1">
                <a:solidFill>
                  <a:srgbClr val="132E2B"/>
                </a:solidFill>
                <a:latin typeface="Helvetica Neue"/>
                <a:ea typeface="Helvetica Neue"/>
                <a:cs typeface="Helvetica Neue"/>
              </a:rPr>
              <a:t>Hackathon roadmap and team</a:t>
            </a:r>
          </a:p>
        </p:txBody>
      </p:sp>
      <p:sp>
        <p:nvSpPr>
          <p:cNvPr id="2" name="">
            <a:extLst xmlns:a="http://schemas.openxmlformats.org/drawingml/2006/main">
              <a:ext uri="{FF2B5EF4-FFF2-40B4-BE49-F238E27FC236}">
                <a16:creationId xmlns:a16="http://schemas.microsoft.com/office/drawing/2014/main" id="{5C156234-003D-45F2-A325-3072ABFB130E}"/>
              </a:ext>
            </a:extLst>
          </p:cNvPr>
          <p:cNvSpPr>
            <a:spLocks xmlns:a="http://schemas.openxmlformats.org/drawingml/2006/main" noGrp="1"/>
          </p:cNvSpPr>
          <p:nvPr/>
        </p:nvSpPr>
        <p:spPr>
          <a:xfrm xmlns:a="http://schemas.openxmlformats.org/drawingml/2006/main">
            <a:off x="571500" y="13525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5C"/>
                </a:solidFill>
                <a:latin typeface="Helvetica Neue"/>
                <a:ea typeface="Helvetica Neue"/>
                <a:cs typeface="Helvetica Neue"/>
              </a:defRPr>
            </a:pPr>
            <a:r>
              <a:rPr sz="1725" b="0">
                <a:solidFill>
                  <a:srgbClr val="49615C"/>
                </a:solidFill>
                <a:latin typeface="Helvetica Neue"/>
                <a:ea typeface="Helvetica Neue"/>
                <a:cs typeface="Helvetica Neue"/>
              </a:rPr>
              <a:t>Develop the idea into an SME-focused demonstration, then validate it with a partner site</a:t>
            </a:r>
          </a:p>
        </p:txBody>
      </p:sp>
      <p:sp>
        <p:nvSpPr>
          <p:cNvPr id="3" name="">
            <a:extLst xmlns:a="http://schemas.openxmlformats.org/drawingml/2006/main">
              <a:ext uri="{FF2B5EF4-FFF2-40B4-BE49-F238E27FC236}">
                <a16:creationId xmlns:a16="http://schemas.microsoft.com/office/drawing/2014/main" id="{C289AA75-CACE-4FCE-B718-15558E26307A}"/>
              </a:ext>
            </a:extLst>
          </p:cNvPr>
          <p:cNvSpPr>
            <a:spLocks xmlns:a="http://schemas.openxmlformats.org/drawingml/2006/main" noGrp="1"/>
          </p:cNvSpPr>
          <p:nvPr/>
        </p:nvSpPr>
        <p:spPr>
          <a:xfrm xmlns:a="http://schemas.openxmlformats.org/drawingml/2006/main">
            <a:off x="571500" y="641985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9615C"/>
                </a:solidFill>
                <a:latin typeface="Helvetica Neue"/>
                <a:ea typeface="Helvetica Neue"/>
                <a:cs typeface="Helvetica Neue"/>
              </a:defRPr>
            </a:pPr>
            <a:r>
              <a:rPr sz="975" b="0">
                <a:solidFill>
                  <a:srgbClr val="49615C"/>
                </a:solidFill>
                <a:latin typeface="Helvetica Neue"/>
                <a:ea typeface="Helvetica Neue"/>
                <a:cs typeface="Helvetica Neue"/>
              </a:rPr>
              <a:t>GRIDFORGE AI   /   YUVA YODHA   /   CHALLENGE 4</a:t>
            </a:r>
          </a:p>
        </p:txBody>
      </p:sp>
      <p:sp>
        <p:nvSpPr>
          <p:cNvPr id="4" name="">
            <a:extLst xmlns:a="http://schemas.openxmlformats.org/drawingml/2006/main">
              <a:ext uri="{FF2B5EF4-FFF2-40B4-BE49-F238E27FC236}">
                <a16:creationId xmlns:a16="http://schemas.microsoft.com/office/drawing/2014/main" id="{3038681F-64E7-4E21-9D43-31AA102D008F}"/>
              </a:ext>
            </a:extLst>
          </p:cNvPr>
          <p:cNvSpPr>
            <a:spLocks xmlns:a="http://schemas.openxmlformats.org/drawingml/2006/main" noGrp="1"/>
          </p:cNvSpPr>
          <p:nvPr/>
        </p:nvSpPr>
        <p:spPr>
          <a:xfrm xmlns:a="http://schemas.openxmlformats.org/drawingml/2006/main">
            <a:off x="11144250" y="63817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32E2B"/>
                </a:solidFill>
                <a:latin typeface="Helvetica Neue"/>
                <a:ea typeface="Helvetica Neue"/>
                <a:cs typeface="Helvetica Neue"/>
              </a:defRPr>
            </a:pPr>
            <a:r>
              <a:rPr sz="1350" b="0">
                <a:solidFill>
                  <a:srgbClr val="132E2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C72D7578-6F50-477D-9CB9-2CB94EE8E761}"/>
              </a:ext>
            </a:extLst>
          </p:cNvPr>
          <p:cNvSpPr>
            <a:spLocks xmlns:a="http://schemas.openxmlformats.org/drawingml/2006/main" noGrp="1"/>
          </p:cNvSpPr>
          <p:nvPr/>
        </p:nvSpPr>
        <p:spPr>
          <a:xfrm xmlns:a="http://schemas.openxmlformats.org/drawingml/2006/main">
            <a:off x="571500" y="2095500"/>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Starting point: working simulation</a:t>
            </a:r>
          </a:p>
        </p:txBody>
      </p:sp>
      <p:sp>
        <p:nvSpPr>
          <p:cNvPr id="6" name="">
            <a:extLst xmlns:a="http://schemas.openxmlformats.org/drawingml/2006/main">
              <a:ext uri="{FF2B5EF4-FFF2-40B4-BE49-F238E27FC236}">
                <a16:creationId xmlns:a16="http://schemas.microsoft.com/office/drawing/2014/main" id="{94E1CA1B-D6CF-473A-A287-CA6646790358}"/>
              </a:ext>
            </a:extLst>
          </p:cNvPr>
          <p:cNvSpPr>
            <a:spLocks xmlns:a="http://schemas.openxmlformats.org/drawingml/2006/main" noGrp="1"/>
          </p:cNvSpPr>
          <p:nvPr/>
        </p:nvSpPr>
        <p:spPr>
          <a:xfrm xmlns:a="http://schemas.openxmlformats.org/drawingml/2006/main">
            <a:off x="571500" y="247650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Reusable local workflow, approval and audit. Synthetic telemetry and offline cloud reconciliation already work.</a:t>
            </a:r>
          </a:p>
        </p:txBody>
      </p:sp>
      <p:sp>
        <p:nvSpPr>
          <p:cNvPr id="7" name="">
            <a:extLst xmlns:a="http://schemas.openxmlformats.org/drawingml/2006/main">
              <a:ext uri="{FF2B5EF4-FFF2-40B4-BE49-F238E27FC236}">
                <a16:creationId xmlns:a16="http://schemas.microsoft.com/office/drawing/2014/main" id="{60F2CB03-0E38-4A02-B0A1-DE29F1ECF71E}"/>
              </a:ext>
            </a:extLst>
          </p:cNvPr>
          <p:cNvSpPr>
            <a:spLocks xmlns:a="http://schemas.openxmlformats.org/drawingml/2006/main" noGrp="1"/>
          </p:cNvSpPr>
          <p:nvPr/>
        </p:nvSpPr>
        <p:spPr>
          <a:xfrm xmlns:a="http://schemas.openxmlformats.org/drawingml/2006/main">
            <a:off x="571500" y="33242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Prototype stage: the SME decision workflow</a:t>
            </a:r>
          </a:p>
        </p:txBody>
      </p:sp>
      <p:sp>
        <p:nvSpPr>
          <p:cNvPr id="8" name="">
            <a:extLst xmlns:a="http://schemas.openxmlformats.org/drawingml/2006/main">
              <a:ext uri="{FF2B5EF4-FFF2-40B4-BE49-F238E27FC236}">
                <a16:creationId xmlns:a16="http://schemas.microsoft.com/office/drawing/2014/main" id="{B09F8409-6F34-4112-8499-E12010BD480C}"/>
              </a:ext>
            </a:extLst>
          </p:cNvPr>
          <p:cNvSpPr>
            <a:spLocks xmlns:a="http://schemas.openxmlformats.org/drawingml/2006/main" noGrp="1"/>
          </p:cNvSpPr>
          <p:nvPr/>
        </p:nvSpPr>
        <p:spPr>
          <a:xfrm xmlns:a="http://schemas.openxmlformats.org/drawingml/2006/main">
            <a:off x="571500" y="3705225"/>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11 Oct–22 Nov: prototype production import and a SEC dashboard. Demonstrate auxiliary recommendations with stated output and quality assumptions.</a:t>
            </a:r>
          </a:p>
        </p:txBody>
      </p:sp>
      <p:sp>
        <p:nvSpPr>
          <p:cNvPr id="9" name="">
            <a:extLst xmlns:a="http://schemas.openxmlformats.org/drawingml/2006/main">
              <a:ext uri="{FF2B5EF4-FFF2-40B4-BE49-F238E27FC236}">
                <a16:creationId xmlns:a16="http://schemas.microsoft.com/office/drawing/2014/main" id="{46A905F0-2AD0-4BB3-853F-EA2442216D5A}"/>
              </a:ext>
            </a:extLst>
          </p:cNvPr>
          <p:cNvSpPr>
            <a:spLocks xmlns:a="http://schemas.openxmlformats.org/drawingml/2006/main" noGrp="1"/>
          </p:cNvSpPr>
          <p:nvPr/>
        </p:nvSpPr>
        <p:spPr>
          <a:xfrm xmlns:a="http://schemas.openxmlformats.org/drawingml/2006/main">
            <a:off x="571500" y="4552950"/>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9"/>
                </a:solidFill>
                <a:latin typeface="Helvetica Neue"/>
                <a:ea typeface="Helvetica Neue"/>
                <a:cs typeface="Helvetica Neue"/>
              </a:defRPr>
            </a:pPr>
            <a:r>
              <a:rPr sz="2025" b="1">
                <a:solidFill>
                  <a:srgbClr val="087F69"/>
                </a:solidFill>
                <a:latin typeface="Helvetica Neue"/>
                <a:ea typeface="Helvetica Neue"/>
                <a:cs typeface="Helvetica Neue"/>
              </a:rPr>
              <a:t>After the hackathon: a measured pilot</a:t>
            </a:r>
          </a:p>
        </p:txBody>
      </p:sp>
      <p:sp>
        <p:nvSpPr>
          <p:cNvPr id="10" name="">
            <a:extLst xmlns:a="http://schemas.openxmlformats.org/drawingml/2006/main">
              <a:ext uri="{FF2B5EF4-FFF2-40B4-BE49-F238E27FC236}">
                <a16:creationId xmlns:a16="http://schemas.microsoft.com/office/drawing/2014/main" id="{B8E044A6-7584-4420-A2EF-032A834DC009}"/>
              </a:ext>
            </a:extLst>
          </p:cNvPr>
          <p:cNvSpPr>
            <a:spLocks xmlns:a="http://schemas.openxmlformats.org/drawingml/2006/main" noGrp="1"/>
          </p:cNvSpPr>
          <p:nvPr/>
        </p:nvSpPr>
        <p:spPr>
          <a:xfrm xmlns:a="http://schemas.openxmlformats.org/drawingml/2006/main">
            <a:off x="571500" y="493395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E2B"/>
                </a:solidFill>
                <a:latin typeface="Helvetica Neue"/>
                <a:ea typeface="Helvetica Neue"/>
                <a:cs typeface="Helvetica Neue"/>
              </a:defRPr>
            </a:pPr>
            <a:r>
              <a:rPr sz="1725" b="0">
                <a:solidFill>
                  <a:srgbClr val="132E2B"/>
                </a:solidFill>
                <a:latin typeface="Helvetica Neue"/>
                <a:ea typeface="Helvetica Neue"/>
                <a:cs typeface="Helvetica Neue"/>
              </a:rPr>
              <a:t>Recruit a foundry and auditor. Integrate meters, test production safeguards and validate economics before cluster rollout.</a:t>
            </a:r>
          </a:p>
        </p:txBody>
      </p:sp>
      <p:sp>
        <p:nvSpPr>
          <p:cNvPr id="11" name="">
            <a:extLst xmlns:a="http://schemas.openxmlformats.org/drawingml/2006/main">
              <a:ext uri="{FF2B5EF4-FFF2-40B4-BE49-F238E27FC236}">
                <a16:creationId xmlns:a16="http://schemas.microsoft.com/office/drawing/2014/main" id="{4222AB9C-F679-4888-90A8-89993BABA147}"/>
              </a:ext>
            </a:extLst>
          </p:cNvPr>
          <p:cNvSpPr>
            <a:spLocks xmlns:a="http://schemas.openxmlformats.org/drawingml/2006/main" noGrp="1"/>
          </p:cNvSpPr>
          <p:nvPr/>
        </p:nvSpPr>
        <p:spPr>
          <a:xfrm xmlns:a="http://schemas.openxmlformats.org/drawingml/2006/main">
            <a:off x="8143875" y="2190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69"/>
                </a:solidFill>
                <a:latin typeface="Helvetica Neue"/>
                <a:ea typeface="Helvetica Neue"/>
                <a:cs typeface="Helvetica Neue"/>
              </a:defRPr>
            </a:pPr>
            <a:r>
              <a:rPr sz="2250" b="1">
                <a:solidFill>
                  <a:srgbClr val="087F69"/>
                </a:solidFill>
                <a:latin typeface="Helvetica Neue"/>
                <a:ea typeface="Helvetica Neue"/>
                <a:cs typeface="Helvetica Neue"/>
              </a:rPr>
              <a:t>Kartikay Srivastava</a:t>
            </a:r>
          </a:p>
        </p:txBody>
      </p:sp>
      <p:sp>
        <p:nvSpPr>
          <p:cNvPr id="12" name="">
            <a:extLst xmlns:a="http://schemas.openxmlformats.org/drawingml/2006/main">
              <a:ext uri="{FF2B5EF4-FFF2-40B4-BE49-F238E27FC236}">
                <a16:creationId xmlns:a16="http://schemas.microsoft.com/office/drawing/2014/main" id="{43154366-0324-4680-8B2F-B1CCF8398B56}"/>
              </a:ext>
            </a:extLst>
          </p:cNvPr>
          <p:cNvSpPr>
            <a:spLocks xmlns:a="http://schemas.openxmlformats.org/drawingml/2006/main" noGrp="1"/>
          </p:cNvSpPr>
          <p:nvPr/>
        </p:nvSpPr>
        <p:spPr>
          <a:xfrm xmlns:a="http://schemas.openxmlformats.org/drawingml/2006/main">
            <a:off x="8143875" y="2943225"/>
            <a:ext cx="3381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B.Tech CSE, AI &amp; ML</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JECRC University</a:t>
            </a:r>
          </a:p>
          <a:p xmlns:a="http://schemas.openxmlformats.org/drawingml/2006/main">
            <a:r>
              <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AI-assisted student project</a:t>
            </a:r>
          </a:p>
          <a:p xmlns:a="http://schemas.openxmlformats.org/drawingml/2006/main">
            <a:r>
              <a:t/>
            </a:r>
          </a:p>
          <a:p xmlns:a="http://schemas.openxmlformats.org/drawingml/2006/main">
            <a:pPr>
              <a:defRPr sz="1800" b="0">
                <a:solidFill>
                  <a:srgbClr val="132E2B"/>
                </a:solidFill>
                <a:latin typeface="Helvetica Neue"/>
                <a:ea typeface="Helvetica Neue"/>
                <a:cs typeface="Helvetica Neue"/>
              </a:defRPr>
            </a:pPr>
            <a:r>
              <a:rPr sz="1800" b="0">
                <a:solidFill>
                  <a:srgbClr val="132E2B"/>
                </a:solidFill>
                <a:latin typeface="Helvetica Neue"/>
                <a:ea typeface="Helvetica Neue"/>
                <a:cs typeface="Helvetica Neue"/>
              </a:rPr>
              <a:t>Seeking a pilot site, an energy auditor and an electrical integration partner.</a:t>
            </a:r>
          </a:p>
        </p:txBody>
      </p:sp>
    </p:spTree>
    <p:extLst>
      <p:ext uri="{BB962C8B-B14F-4D97-AF65-F5344CB8AC3E}">
        <p14:creationId xmlns:p14="http://schemas.microsoft.com/office/powerpoint/2010/main" val="2111782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2026-10-03T16:01:40.6680000Z</dcterms:created>
  <dcterms:modified xsi:type="dcterms:W3CDTF">2026-10-03T16:01:40.6680000Z</dcterms:modified>
</coreProperties>
</file>